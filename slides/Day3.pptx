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92" r:id="rId3"/>
    <p:sldId id="267" r:id="rId4"/>
    <p:sldId id="305" r:id="rId5"/>
    <p:sldId id="304" r:id="rId6"/>
    <p:sldId id="302" r:id="rId7"/>
    <p:sldId id="310" r:id="rId8"/>
    <p:sldId id="307" r:id="rId9"/>
    <p:sldId id="308" r:id="rId10"/>
    <p:sldId id="309" r:id="rId11"/>
    <p:sldId id="311" r:id="rId12"/>
    <p:sldId id="306" r:id="rId13"/>
    <p:sldId id="312" r:id="rId14"/>
    <p:sldId id="301" r:id="rId15"/>
    <p:sldId id="275" r:id="rId16"/>
    <p:sldId id="300" r:id="rId17"/>
    <p:sldId id="257" r:id="rId18"/>
    <p:sldId id="293" r:id="rId19"/>
    <p:sldId id="276" r:id="rId20"/>
    <p:sldId id="277" r:id="rId21"/>
    <p:sldId id="278" r:id="rId22"/>
    <p:sldId id="288" r:id="rId23"/>
    <p:sldId id="294" r:id="rId24"/>
    <p:sldId id="295" r:id="rId25"/>
    <p:sldId id="296" r:id="rId26"/>
    <p:sldId id="297" r:id="rId27"/>
    <p:sldId id="298" r:id="rId28"/>
    <p:sldId id="279" r:id="rId29"/>
    <p:sldId id="270" r:id="rId30"/>
    <p:sldId id="271" r:id="rId31"/>
    <p:sldId id="283" r:id="rId32"/>
    <p:sldId id="299" r:id="rId33"/>
    <p:sldId id="303" r:id="rId3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5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683A2F7-CC42-4130-AC97-95EFFD121DDF}" type="datetimeFigureOut">
              <a:rPr lang="en-CA" smtClean="0"/>
              <a:t>2023-11-23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367CFDC-501E-4837-B61F-87CE793250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6291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33436-3D70-7429-1FFC-6988A2D1DA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D9C163-4D35-55CB-2728-4B7F5DB957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28191-8C1F-FB40-A4FB-E399C47B8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99DE-0076-407C-B669-04401D93B674}" type="datetime1">
              <a:rPr lang="en-CA" smtClean="0"/>
              <a:t>2023-11-23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4A7A3-7A53-CE44-C66A-26D93D94C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569BC-AC40-E2C8-0868-146C1D09B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444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BFB6-D11D-BF95-A087-1E66A1B45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73446-8CC4-1B2E-F1FA-3141D8C75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C9DC4-D0B7-7350-8411-BDF165785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458ED-C06D-4FB3-B18A-4DD528848469}" type="datetime1">
              <a:rPr lang="en-CA" smtClean="0"/>
              <a:t>2023-11-23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6808-96ED-53CD-8A52-B8D9974D3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34DD8-A0B7-794D-2957-051BD562C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0841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8AED1-CE47-D5B7-A62D-CBC1ECF8D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183D1-40C7-231B-A80C-8221CC03B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7DE6F-E969-CBFA-D5FD-88149298E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7BE36-7D1C-428D-88D2-95C5246F1139}" type="datetime1">
              <a:rPr lang="en-CA" smtClean="0"/>
              <a:t>2023-11-23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52662-2358-E320-B60C-6771368F4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4817C-C7CD-177A-3CBD-8C1C3A014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6772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A6D2A-AE24-D83F-88D8-34B90D6CC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C021F-2B2A-38EE-6866-C78B74F0A5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761AC6-8A6C-0F87-8080-0215B7E9B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DE3ED-29E0-12CD-F97B-894CE9B34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2011A-9810-4C9C-B28A-B7A6AAC0B235}" type="datetime1">
              <a:rPr lang="en-CA" smtClean="0"/>
              <a:t>2023-11-23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150D56-3D01-E3E5-CA77-E7B390E79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914070-9F00-8E84-F167-490246139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2963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4B210-84C8-80BB-26B1-C5A4CEBBA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70BA7-5323-0636-7EAC-4425DFE59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F5C29E-ED0C-B2A2-0660-200362CE5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1FD1EC-0C5F-045F-697D-AE47C626D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54A046-BEF7-B608-4C19-BE12DB16A9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94A658-92FD-1ED4-0BCD-80BB98305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010D-F1C7-4A23-95FA-55F05584DF34}" type="datetime1">
              <a:rPr lang="en-CA" smtClean="0"/>
              <a:t>2023-11-23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C47786-D546-D457-1717-005FEFCF8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EAD6BF-FABE-24DA-5E66-BF0834A8C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0028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CA3ED-3DC1-8B95-0272-67BDA498B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583749-F74F-25C4-3346-24D66E2A9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39B59-98B7-42D9-AFEE-14D411845555}" type="datetime1">
              <a:rPr lang="en-CA" smtClean="0"/>
              <a:t>2023-11-23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8E3685-6346-FF67-B1A7-EE2E41D01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374393-52F9-6367-F3B9-1848FE30D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6807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05A42A-F571-ADC5-256A-23252F7F8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659C5-0D91-4D00-B8C0-AE5B10BE2B93}" type="datetime1">
              <a:rPr lang="en-CA" smtClean="0"/>
              <a:t>2023-11-23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826329-D3B1-8287-51CA-AD6B3CE1F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BD4A0-5FFA-525E-B6E8-53CAC3DA3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67B1038B-87B6-4EEB-B4D7-F992AF662854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6B290A5E-A07F-BC1D-5A4A-3EDF40E86A2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14" y="6356350"/>
            <a:ext cx="870573" cy="40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8431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703C9-3297-C022-3B3D-B8195F65A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8ADA6-BAAA-5965-989A-614F52A30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2CA950-9A56-7F66-9550-CAF15DDC3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B49F21-8823-2877-A31F-ACC9BA004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D32C2-C922-41FF-B181-40A4CC886B35}" type="datetime1">
              <a:rPr lang="en-CA" smtClean="0"/>
              <a:t>2023-11-23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F229A-3222-05B9-8DE7-236EB08D7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EEF570-6A93-FA4A-1B57-3E84555A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5162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45CC4-4BC9-FD1C-AB90-05538752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C5568E-373E-9604-6F31-4638E69C01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6B322-2287-F234-2597-7B9EDDFBE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BB316D-6144-E9F6-F920-4611F0443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F1051-1485-4EC3-88EC-CC0992768502}" type="datetime1">
              <a:rPr lang="en-CA" smtClean="0"/>
              <a:t>2023-11-23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5BA184-E8C2-5242-063F-ED72C8349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75A2A-A1CB-4141-8C98-16CCE5E8F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266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2C906-7BC5-3D80-3262-F2BD4F370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01882C-7AD0-3A77-D7D9-8886F15EA6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2D01C-C1F7-B7F3-7AA8-CB97E499E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D3EE1-3EA4-4860-A8F6-31D32E6F2ABD}" type="datetime1">
              <a:rPr lang="en-CA" smtClean="0"/>
              <a:t>2023-11-23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66125-0A19-7214-F887-B505B4B25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8E7C3-011D-C7E9-8194-BEAC559D0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8520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C65671-7C64-C048-C71C-371EDDF41C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658946-D7EF-1707-A71D-19852D7E5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258F2-79DD-0B86-71E5-EDCC99187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9025D-3273-4856-993F-6CCA5AD27D5E}" type="datetime1">
              <a:rPr lang="en-CA" smtClean="0"/>
              <a:t>2023-11-23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B6D84-FE4C-BEBC-EDD6-CD3CA79D3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4A08D-F882-ECAA-8575-3CCE48BFF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9956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06816A-7BD5-704C-45E4-90D345625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6DD37-C066-A690-A4CD-E73853E5A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73A32-9751-498B-6B28-33E56D9763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4659F-95E2-472B-9FC7-68FC0420B5F1}" type="datetime1">
              <a:rPr lang="en-CA" smtClean="0"/>
              <a:t>2023-11-23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DF91E-B788-C047-EB34-023E8AC0BF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49420-3123-260B-3EF0-DC6B39602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3917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yihui.org/" TargetMode="External"/><Relationship Id="rId2" Type="http://schemas.openxmlformats.org/officeDocument/2006/relationships/hyperlink" Target="https://rmarkdown.rstudio.com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6339E5-F3E5-5E2D-A4BA-19E6BFB6304D}"/>
              </a:ext>
            </a:extLst>
          </p:cNvPr>
          <p:cNvSpPr txBox="1"/>
          <p:nvPr/>
        </p:nvSpPr>
        <p:spPr>
          <a:xfrm>
            <a:off x="442244" y="2203485"/>
            <a:ext cx="684731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8800" dirty="0">
                <a:solidFill>
                  <a:srgbClr val="404040"/>
                </a:solidFill>
              </a:rPr>
              <a:t>R</a:t>
            </a:r>
            <a:r>
              <a:rPr lang="en-CA" sz="6600" dirty="0"/>
              <a:t> for data analysis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2D15EBC-514A-4C16-5AB7-69CD5F7E8281}"/>
              </a:ext>
            </a:extLst>
          </p:cNvPr>
          <p:cNvCxnSpPr>
            <a:cxnSpLocks/>
          </p:cNvCxnSpPr>
          <p:nvPr/>
        </p:nvCxnSpPr>
        <p:spPr>
          <a:xfrm>
            <a:off x="648770" y="5181062"/>
            <a:ext cx="45549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34B51B2-F386-4706-700C-462699F3EA34}"/>
              </a:ext>
            </a:extLst>
          </p:cNvPr>
          <p:cNvSpPr txBox="1"/>
          <p:nvPr/>
        </p:nvSpPr>
        <p:spPr>
          <a:xfrm>
            <a:off x="620995" y="5300704"/>
            <a:ext cx="455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Clinical Research Support Unit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A48BF6-C3B9-E882-8BA5-635A5BB5B2C8}"/>
              </a:ext>
            </a:extLst>
          </p:cNvPr>
          <p:cNvGrpSpPr/>
          <p:nvPr/>
        </p:nvGrpSpPr>
        <p:grpSpPr>
          <a:xfrm>
            <a:off x="7699760" y="522446"/>
            <a:ext cx="4404646" cy="5378422"/>
            <a:chOff x="7469024" y="596473"/>
            <a:chExt cx="4404646" cy="5378422"/>
          </a:xfrm>
        </p:grpSpPr>
        <p:pic>
          <p:nvPicPr>
            <p:cNvPr id="12" name="Graphic 11" descr="Laptop with phone and calculator">
              <a:extLst>
                <a:ext uri="{FF2B5EF4-FFF2-40B4-BE49-F238E27FC236}">
                  <a16:creationId xmlns:a16="http://schemas.microsoft.com/office/drawing/2014/main" id="{DF886F85-BBE8-5556-E6B3-A6EE820E87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26116"/>
            <a:stretch/>
          </p:blipFill>
          <p:spPr>
            <a:xfrm>
              <a:off x="7469024" y="596473"/>
              <a:ext cx="3973794" cy="5378422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647E397-BF1B-5A7C-A5B4-8A41E663394A}"/>
                </a:ext>
              </a:extLst>
            </p:cNvPr>
            <p:cNvSpPr/>
            <p:nvPr/>
          </p:nvSpPr>
          <p:spPr>
            <a:xfrm>
              <a:off x="11194991" y="3196128"/>
              <a:ext cx="554765" cy="14527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0E4BAC5-ABDF-4303-F0DC-70E3159272D2}"/>
                </a:ext>
              </a:extLst>
            </p:cNvPr>
            <p:cNvSpPr/>
            <p:nvPr/>
          </p:nvSpPr>
          <p:spPr>
            <a:xfrm>
              <a:off x="11318905" y="4520725"/>
              <a:ext cx="554765" cy="5725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2FB42E6-7D18-89BF-A26F-063D15706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0339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DB74E2-B176-C31A-1EC8-F06A154F9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2</a:t>
            </a:fld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FE588D-652D-0CA9-F58A-68F96B16E814}"/>
              </a:ext>
            </a:extLst>
          </p:cNvPr>
          <p:cNvSpPr txBox="1"/>
          <p:nvPr/>
        </p:nvSpPr>
        <p:spPr>
          <a:xfrm>
            <a:off x="2635400" y="1914256"/>
            <a:ext cx="2409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/>
              <a:t>Contents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9AA938D-5D88-6D1D-E0A1-97A10F859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708" y="1788367"/>
            <a:ext cx="1317659" cy="1021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A04CBF-69CD-2188-7CDD-0A39AD1B0270}"/>
              </a:ext>
            </a:extLst>
          </p:cNvPr>
          <p:cNvSpPr txBox="1"/>
          <p:nvPr/>
        </p:nvSpPr>
        <p:spPr>
          <a:xfrm>
            <a:off x="5534001" y="913982"/>
            <a:ext cx="615319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solidFill>
                  <a:srgbClr val="404040"/>
                </a:solidFill>
              </a:rPr>
              <a:t>1 Data import</a:t>
            </a:r>
          </a:p>
          <a:p>
            <a:r>
              <a:rPr lang="en-CA" sz="2800" dirty="0">
                <a:solidFill>
                  <a:srgbClr val="404040"/>
                </a:solidFill>
              </a:rPr>
              <a:t>2 R Markdown</a:t>
            </a:r>
          </a:p>
          <a:p>
            <a:r>
              <a:rPr lang="en-CA" sz="2800" dirty="0">
                <a:solidFill>
                  <a:srgbClr val="404040"/>
                </a:solidFill>
              </a:rPr>
              <a:t>3 Data merging</a:t>
            </a:r>
          </a:p>
          <a:p>
            <a:r>
              <a:rPr lang="en-CA" sz="2800" dirty="0">
                <a:solidFill>
                  <a:srgbClr val="404040"/>
                </a:solidFill>
              </a:rPr>
              <a:t>4 Creating variables</a:t>
            </a:r>
          </a:p>
          <a:p>
            <a:r>
              <a:rPr lang="en-CA" sz="2800" dirty="0">
                <a:solidFill>
                  <a:srgbClr val="404040"/>
                </a:solidFill>
              </a:rPr>
              <a:t>5</a:t>
            </a:r>
            <a:r>
              <a:rPr lang="en-CA" sz="2800" dirty="0"/>
              <a:t> Chi-square test</a:t>
            </a:r>
          </a:p>
          <a:p>
            <a:r>
              <a:rPr lang="en-CA" sz="2800" dirty="0">
                <a:solidFill>
                  <a:srgbClr val="404040"/>
                </a:solidFill>
              </a:rPr>
              <a:t>6</a:t>
            </a:r>
            <a:r>
              <a:rPr lang="en-CA" sz="2800" dirty="0"/>
              <a:t> T-test</a:t>
            </a:r>
          </a:p>
          <a:p>
            <a:r>
              <a:rPr lang="en-CA" sz="2800" dirty="0">
                <a:solidFill>
                  <a:srgbClr val="404040"/>
                </a:solidFill>
              </a:rPr>
              <a:t>7</a:t>
            </a:r>
            <a:r>
              <a:rPr lang="en-CA" sz="2800" dirty="0"/>
              <a:t> Correlation Analysis</a:t>
            </a:r>
          </a:p>
          <a:p>
            <a:r>
              <a:rPr lang="en-CA" sz="2800" dirty="0">
                <a:solidFill>
                  <a:srgbClr val="404040"/>
                </a:solidFill>
              </a:rPr>
              <a:t>8 </a:t>
            </a:r>
            <a:r>
              <a:rPr lang="en-CA" sz="2800" dirty="0"/>
              <a:t>Linear Regression</a:t>
            </a:r>
          </a:p>
          <a:p>
            <a:r>
              <a:rPr lang="en-CA" sz="2800" dirty="0">
                <a:solidFill>
                  <a:srgbClr val="404040"/>
                </a:solidFill>
              </a:rPr>
              <a:t>9 </a:t>
            </a:r>
            <a:r>
              <a:rPr lang="en-CA" sz="2800" dirty="0"/>
              <a:t>Logistic Regression</a:t>
            </a:r>
            <a:endParaRPr lang="en-CA" sz="2800" dirty="0">
              <a:solidFill>
                <a:srgbClr val="404040"/>
              </a:solidFill>
            </a:endParaRPr>
          </a:p>
          <a:p>
            <a:r>
              <a:rPr lang="en-CA" sz="2800" dirty="0">
                <a:solidFill>
                  <a:srgbClr val="404040"/>
                </a:solidFill>
              </a:rPr>
              <a:t>10 </a:t>
            </a:r>
            <a:r>
              <a:rPr lang="en-CA" sz="2800" dirty="0"/>
              <a:t>ANOVA</a:t>
            </a:r>
          </a:p>
        </p:txBody>
      </p:sp>
    </p:spTree>
    <p:extLst>
      <p:ext uri="{BB962C8B-B14F-4D97-AF65-F5344CB8AC3E}">
        <p14:creationId xmlns:p14="http://schemas.microsoft.com/office/powerpoint/2010/main" val="39248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3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C0B5D-EAB0-7100-8935-6F00C2FFA9A7}"/>
              </a:ext>
            </a:extLst>
          </p:cNvPr>
          <p:cNvSpPr txBox="1"/>
          <p:nvPr/>
        </p:nvSpPr>
        <p:spPr>
          <a:xfrm>
            <a:off x="806308" y="86283"/>
            <a:ext cx="5050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Importing dataset (csv file)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B09318-F5F1-F2E0-EDBD-2F80080CDA97}"/>
              </a:ext>
            </a:extLst>
          </p:cNvPr>
          <p:cNvSpPr txBox="1"/>
          <p:nvPr/>
        </p:nvSpPr>
        <p:spPr>
          <a:xfrm>
            <a:off x="1176280" y="659745"/>
            <a:ext cx="9110720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A" sz="1600" dirty="0"/>
          </a:p>
          <a:p>
            <a:r>
              <a:rPr lang="en-CA" sz="2400" dirty="0"/>
              <a:t># Importing data set in CSV file named ‘data1’</a:t>
            </a:r>
          </a:p>
          <a:p>
            <a:endParaRPr lang="en-CA" sz="1600" dirty="0"/>
          </a:p>
          <a:p>
            <a:r>
              <a:rPr lang="en-CA" sz="2400" dirty="0"/>
              <a:t># Check your file extensions!! What type of file do you have?</a:t>
            </a:r>
          </a:p>
          <a:p>
            <a:endParaRPr lang="en-CA" sz="2400" dirty="0"/>
          </a:p>
          <a:p>
            <a:endParaRPr lang="en-CA" sz="2400" dirty="0"/>
          </a:p>
          <a:p>
            <a:r>
              <a:rPr lang="en-CA" sz="2400" i="1" dirty="0" err="1">
                <a:solidFill>
                  <a:srgbClr val="7030A0"/>
                </a:solidFill>
              </a:rPr>
              <a:t>getwd</a:t>
            </a:r>
            <a:r>
              <a:rPr lang="en-CA" sz="2400" i="1" dirty="0">
                <a:solidFill>
                  <a:srgbClr val="7030A0"/>
                </a:solidFill>
              </a:rPr>
              <a:t>()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data1 &lt;- read.csv(“location of the data/data1.csv", header = TRUE)</a:t>
            </a:r>
          </a:p>
          <a:p>
            <a:endParaRPr lang="en-US" sz="2400" i="1" dirty="0">
              <a:solidFill>
                <a:srgbClr val="7030A0"/>
              </a:solidFill>
            </a:endParaRPr>
          </a:p>
          <a:p>
            <a:r>
              <a:rPr lang="en-US" sz="2400" i="1" dirty="0" err="1">
                <a:solidFill>
                  <a:srgbClr val="7030A0"/>
                </a:solidFill>
              </a:rPr>
              <a:t>Install.packages</a:t>
            </a:r>
            <a:r>
              <a:rPr lang="en-US" sz="2400" i="1" dirty="0">
                <a:solidFill>
                  <a:srgbClr val="7030A0"/>
                </a:solidFill>
              </a:rPr>
              <a:t>(“</a:t>
            </a:r>
            <a:r>
              <a:rPr lang="en-US" sz="2400" i="1" dirty="0" err="1">
                <a:solidFill>
                  <a:srgbClr val="7030A0"/>
                </a:solidFill>
              </a:rPr>
              <a:t>readxl</a:t>
            </a:r>
            <a:r>
              <a:rPr lang="en-US" sz="2400" i="1" dirty="0">
                <a:solidFill>
                  <a:srgbClr val="7030A0"/>
                </a:solidFill>
              </a:rPr>
              <a:t>”)</a:t>
            </a:r>
          </a:p>
          <a:p>
            <a:r>
              <a:rPr lang="en-CA" sz="2400" i="1" dirty="0">
                <a:solidFill>
                  <a:srgbClr val="7030A0"/>
                </a:solidFill>
              </a:rPr>
              <a:t>library(</a:t>
            </a:r>
            <a:r>
              <a:rPr lang="en-CA" sz="2400" i="1" dirty="0" err="1">
                <a:solidFill>
                  <a:srgbClr val="7030A0"/>
                </a:solidFill>
              </a:rPr>
              <a:t>readxl</a:t>
            </a:r>
            <a:r>
              <a:rPr lang="en-CA" sz="2400" i="1" dirty="0">
                <a:solidFill>
                  <a:srgbClr val="7030A0"/>
                </a:solidFill>
              </a:rPr>
              <a:t>)</a:t>
            </a:r>
          </a:p>
          <a:p>
            <a:r>
              <a:rPr lang="en-CA" sz="2400" i="1" dirty="0">
                <a:solidFill>
                  <a:srgbClr val="7030A0"/>
                </a:solidFill>
              </a:rPr>
              <a:t>data1 &lt;- </a:t>
            </a:r>
            <a:r>
              <a:rPr lang="en-CA" sz="2400" i="1" dirty="0" err="1">
                <a:solidFill>
                  <a:srgbClr val="7030A0"/>
                </a:solidFill>
              </a:rPr>
              <a:t>read_excel</a:t>
            </a:r>
            <a:r>
              <a:rPr lang="en-US" sz="2400" i="1" dirty="0">
                <a:solidFill>
                  <a:srgbClr val="7030A0"/>
                </a:solidFill>
              </a:rPr>
              <a:t> location of the data</a:t>
            </a:r>
            <a:r>
              <a:rPr lang="en-CA" sz="2400" i="1" dirty="0">
                <a:solidFill>
                  <a:srgbClr val="7030A0"/>
                </a:solidFill>
              </a:rPr>
              <a:t>/data1.xlsx")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90979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559D998-AB6C-46E1-B394-118E9A1E2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FEB01BA3-92A2-3B18-7113-0AB6FB8192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93" b="1"/>
          <a:stretch/>
        </p:blipFill>
        <p:spPr>
          <a:xfrm>
            <a:off x="20" y="10"/>
            <a:ext cx="12191980" cy="6865943"/>
          </a:xfrm>
          <a:custGeom>
            <a:avLst/>
            <a:gdLst/>
            <a:ahLst/>
            <a:cxnLst/>
            <a:rect l="l" t="t" r="r" b="b"/>
            <a:pathLst>
              <a:path w="12192000" h="6857681">
                <a:moveTo>
                  <a:pt x="0" y="0"/>
                </a:moveTo>
                <a:lnTo>
                  <a:pt x="6033794" y="0"/>
                </a:lnTo>
                <a:lnTo>
                  <a:pt x="6104632" y="17448"/>
                </a:lnTo>
                <a:cubicBezTo>
                  <a:pt x="6167597" y="23966"/>
                  <a:pt x="6148747" y="27214"/>
                  <a:pt x="6198111" y="26888"/>
                </a:cubicBezTo>
                <a:cubicBezTo>
                  <a:pt x="6203032" y="26525"/>
                  <a:pt x="6212450" y="35708"/>
                  <a:pt x="6231511" y="33431"/>
                </a:cubicBezTo>
                <a:cubicBezTo>
                  <a:pt x="6261681" y="37362"/>
                  <a:pt x="6245025" y="48416"/>
                  <a:pt x="6283668" y="52056"/>
                </a:cubicBezTo>
                <a:cubicBezTo>
                  <a:pt x="6280095" y="55478"/>
                  <a:pt x="6317954" y="53783"/>
                  <a:pt x="6321602" y="65933"/>
                </a:cubicBezTo>
                <a:cubicBezTo>
                  <a:pt x="6338020" y="69803"/>
                  <a:pt x="6363241" y="73066"/>
                  <a:pt x="6382175" y="75274"/>
                </a:cubicBezTo>
                <a:cubicBezTo>
                  <a:pt x="6410543" y="81224"/>
                  <a:pt x="6424665" y="87641"/>
                  <a:pt x="6428857" y="91880"/>
                </a:cubicBezTo>
                <a:cubicBezTo>
                  <a:pt x="6457257" y="98611"/>
                  <a:pt x="6454186" y="99822"/>
                  <a:pt x="6491478" y="114104"/>
                </a:cubicBezTo>
                <a:cubicBezTo>
                  <a:pt x="6513363" y="108974"/>
                  <a:pt x="6532168" y="120070"/>
                  <a:pt x="6541328" y="130204"/>
                </a:cubicBezTo>
                <a:cubicBezTo>
                  <a:pt x="6566101" y="139804"/>
                  <a:pt x="6619910" y="162727"/>
                  <a:pt x="6655300" y="165762"/>
                </a:cubicBezTo>
                <a:cubicBezTo>
                  <a:pt x="6709422" y="165032"/>
                  <a:pt x="6694278" y="176304"/>
                  <a:pt x="6718357" y="184874"/>
                </a:cubicBezTo>
                <a:cubicBezTo>
                  <a:pt x="6737101" y="195527"/>
                  <a:pt x="6734493" y="186329"/>
                  <a:pt x="6754054" y="199796"/>
                </a:cubicBezTo>
                <a:lnTo>
                  <a:pt x="6790284" y="215417"/>
                </a:lnTo>
                <a:lnTo>
                  <a:pt x="6833979" y="239878"/>
                </a:lnTo>
                <a:lnTo>
                  <a:pt x="6843981" y="246602"/>
                </a:lnTo>
                <a:cubicBezTo>
                  <a:pt x="6849111" y="246626"/>
                  <a:pt x="6852366" y="247045"/>
                  <a:pt x="6854445" y="247782"/>
                </a:cubicBezTo>
                <a:cubicBezTo>
                  <a:pt x="6854496" y="247881"/>
                  <a:pt x="6854549" y="247980"/>
                  <a:pt x="6854600" y="248079"/>
                </a:cubicBezTo>
                <a:lnTo>
                  <a:pt x="6869364" y="251040"/>
                </a:lnTo>
                <a:cubicBezTo>
                  <a:pt x="6886479" y="251404"/>
                  <a:pt x="6920818" y="277370"/>
                  <a:pt x="6937072" y="276678"/>
                </a:cubicBezTo>
                <a:cubicBezTo>
                  <a:pt x="6944247" y="293133"/>
                  <a:pt x="6941053" y="265766"/>
                  <a:pt x="6968404" y="280704"/>
                </a:cubicBezTo>
                <a:cubicBezTo>
                  <a:pt x="6980596" y="282696"/>
                  <a:pt x="6985722" y="284716"/>
                  <a:pt x="6995938" y="286247"/>
                </a:cubicBezTo>
                <a:cubicBezTo>
                  <a:pt x="6996079" y="286667"/>
                  <a:pt x="7029560" y="289467"/>
                  <a:pt x="7029701" y="289887"/>
                </a:cubicBezTo>
                <a:lnTo>
                  <a:pt x="7054104" y="293980"/>
                </a:lnTo>
                <a:lnTo>
                  <a:pt x="7059678" y="296051"/>
                </a:lnTo>
                <a:lnTo>
                  <a:pt x="7092167" y="292851"/>
                </a:lnTo>
                <a:lnTo>
                  <a:pt x="7108387" y="292672"/>
                </a:lnTo>
                <a:lnTo>
                  <a:pt x="7114139" y="289579"/>
                </a:lnTo>
                <a:cubicBezTo>
                  <a:pt x="7119705" y="287930"/>
                  <a:pt x="7126840" y="287741"/>
                  <a:pt x="7137488" y="290860"/>
                </a:cubicBezTo>
                <a:lnTo>
                  <a:pt x="7139729" y="292153"/>
                </a:lnTo>
                <a:lnTo>
                  <a:pt x="7172532" y="286561"/>
                </a:lnTo>
                <a:cubicBezTo>
                  <a:pt x="7179544" y="284784"/>
                  <a:pt x="7207552" y="294171"/>
                  <a:pt x="7213458" y="290616"/>
                </a:cubicBezTo>
                <a:cubicBezTo>
                  <a:pt x="7269364" y="295457"/>
                  <a:pt x="7303569" y="278925"/>
                  <a:pt x="7371827" y="290351"/>
                </a:cubicBezTo>
                <a:cubicBezTo>
                  <a:pt x="7417519" y="294938"/>
                  <a:pt x="7443196" y="294841"/>
                  <a:pt x="7472683" y="298450"/>
                </a:cubicBezTo>
                <a:cubicBezTo>
                  <a:pt x="7502170" y="302059"/>
                  <a:pt x="7529752" y="308462"/>
                  <a:pt x="7548749" y="312007"/>
                </a:cubicBezTo>
                <a:cubicBezTo>
                  <a:pt x="7567746" y="315552"/>
                  <a:pt x="7562619" y="317217"/>
                  <a:pt x="7586664" y="319723"/>
                </a:cubicBezTo>
                <a:cubicBezTo>
                  <a:pt x="7610709" y="322229"/>
                  <a:pt x="7669675" y="320322"/>
                  <a:pt x="7693021" y="327043"/>
                </a:cubicBezTo>
                <a:cubicBezTo>
                  <a:pt x="7718238" y="326359"/>
                  <a:pt x="7721537" y="337391"/>
                  <a:pt x="7735314" y="336075"/>
                </a:cubicBezTo>
                <a:cubicBezTo>
                  <a:pt x="7806549" y="352546"/>
                  <a:pt x="7865892" y="349618"/>
                  <a:pt x="7952583" y="346950"/>
                </a:cubicBezTo>
                <a:cubicBezTo>
                  <a:pt x="8009730" y="351831"/>
                  <a:pt x="8008698" y="354607"/>
                  <a:pt x="8033745" y="357420"/>
                </a:cubicBezTo>
                <a:cubicBezTo>
                  <a:pt x="8041390" y="360247"/>
                  <a:pt x="8045181" y="350414"/>
                  <a:pt x="8052068" y="354306"/>
                </a:cubicBezTo>
                <a:lnTo>
                  <a:pt x="8087434" y="359505"/>
                </a:lnTo>
                <a:lnTo>
                  <a:pt x="8113399" y="369645"/>
                </a:lnTo>
                <a:lnTo>
                  <a:pt x="8137804" y="376078"/>
                </a:lnTo>
                <a:lnTo>
                  <a:pt x="8167138" y="378809"/>
                </a:lnTo>
                <a:cubicBezTo>
                  <a:pt x="8176124" y="381225"/>
                  <a:pt x="8176713" y="389019"/>
                  <a:pt x="8188557" y="388892"/>
                </a:cubicBezTo>
                <a:cubicBezTo>
                  <a:pt x="8224517" y="394064"/>
                  <a:pt x="8289287" y="398547"/>
                  <a:pt x="8338182" y="404244"/>
                </a:cubicBezTo>
                <a:cubicBezTo>
                  <a:pt x="8362404" y="400849"/>
                  <a:pt x="8397142" y="407351"/>
                  <a:pt x="8407187" y="417040"/>
                </a:cubicBezTo>
                <a:cubicBezTo>
                  <a:pt x="8419182" y="419735"/>
                  <a:pt x="8448098" y="419784"/>
                  <a:pt x="8459765" y="417876"/>
                </a:cubicBezTo>
                <a:cubicBezTo>
                  <a:pt x="8470121" y="418155"/>
                  <a:pt x="8471999" y="421843"/>
                  <a:pt x="8485759" y="423277"/>
                </a:cubicBezTo>
                <a:cubicBezTo>
                  <a:pt x="8500778" y="426656"/>
                  <a:pt x="8533354" y="442668"/>
                  <a:pt x="8547497" y="447675"/>
                </a:cubicBezTo>
                <a:cubicBezTo>
                  <a:pt x="8561640" y="452682"/>
                  <a:pt x="8547256" y="447497"/>
                  <a:pt x="8570615" y="453317"/>
                </a:cubicBezTo>
                <a:cubicBezTo>
                  <a:pt x="8578949" y="455301"/>
                  <a:pt x="8577204" y="463036"/>
                  <a:pt x="8595122" y="466725"/>
                </a:cubicBezTo>
                <a:cubicBezTo>
                  <a:pt x="8613041" y="470415"/>
                  <a:pt x="8653176" y="474680"/>
                  <a:pt x="8678126" y="475454"/>
                </a:cubicBezTo>
                <a:cubicBezTo>
                  <a:pt x="8706000" y="462935"/>
                  <a:pt x="8696233" y="479979"/>
                  <a:pt x="8747203" y="464224"/>
                </a:cubicBezTo>
                <a:cubicBezTo>
                  <a:pt x="8748514" y="466239"/>
                  <a:pt x="8769343" y="465372"/>
                  <a:pt x="8790692" y="466720"/>
                </a:cubicBezTo>
                <a:cubicBezTo>
                  <a:pt x="8812041" y="468068"/>
                  <a:pt x="8857501" y="479363"/>
                  <a:pt x="8875298" y="472310"/>
                </a:cubicBezTo>
                <a:lnTo>
                  <a:pt x="9032306" y="471571"/>
                </a:lnTo>
                <a:lnTo>
                  <a:pt x="9122435" y="483407"/>
                </a:lnTo>
                <a:cubicBezTo>
                  <a:pt x="9153775" y="485302"/>
                  <a:pt x="9159039" y="493942"/>
                  <a:pt x="9179171" y="490552"/>
                </a:cubicBezTo>
                <a:cubicBezTo>
                  <a:pt x="9213108" y="492737"/>
                  <a:pt x="9191622" y="508779"/>
                  <a:pt x="9230778" y="495862"/>
                </a:cubicBezTo>
                <a:cubicBezTo>
                  <a:pt x="9220076" y="509598"/>
                  <a:pt x="9249178" y="492136"/>
                  <a:pt x="9269314" y="503195"/>
                </a:cubicBezTo>
                <a:cubicBezTo>
                  <a:pt x="9297556" y="495041"/>
                  <a:pt x="9326591" y="505312"/>
                  <a:pt x="9343734" y="506508"/>
                </a:cubicBezTo>
                <a:cubicBezTo>
                  <a:pt x="9360877" y="507704"/>
                  <a:pt x="9347612" y="511465"/>
                  <a:pt x="9372172" y="510372"/>
                </a:cubicBezTo>
                <a:lnTo>
                  <a:pt x="9406856" y="515908"/>
                </a:lnTo>
                <a:cubicBezTo>
                  <a:pt x="9405045" y="511337"/>
                  <a:pt x="9410063" y="512684"/>
                  <a:pt x="9423824" y="513399"/>
                </a:cubicBezTo>
                <a:lnTo>
                  <a:pt x="9460782" y="509325"/>
                </a:lnTo>
                <a:lnTo>
                  <a:pt x="9486144" y="513434"/>
                </a:lnTo>
                <a:cubicBezTo>
                  <a:pt x="9489544" y="513295"/>
                  <a:pt x="9513720" y="508821"/>
                  <a:pt x="9513235" y="505310"/>
                </a:cubicBezTo>
                <a:cubicBezTo>
                  <a:pt x="9539685" y="520038"/>
                  <a:pt x="9542332" y="510786"/>
                  <a:pt x="9569455" y="507032"/>
                </a:cubicBezTo>
                <a:cubicBezTo>
                  <a:pt x="9592710" y="508415"/>
                  <a:pt x="9572665" y="508880"/>
                  <a:pt x="9628861" y="510620"/>
                </a:cubicBezTo>
                <a:cubicBezTo>
                  <a:pt x="9650737" y="526789"/>
                  <a:pt x="9635011" y="498901"/>
                  <a:pt x="9677951" y="521543"/>
                </a:cubicBezTo>
                <a:cubicBezTo>
                  <a:pt x="9680053" y="519778"/>
                  <a:pt x="9706563" y="521397"/>
                  <a:pt x="9720438" y="523172"/>
                </a:cubicBezTo>
                <a:cubicBezTo>
                  <a:pt x="9734313" y="524947"/>
                  <a:pt x="9746849" y="522784"/>
                  <a:pt x="9761204" y="532196"/>
                </a:cubicBezTo>
                <a:cubicBezTo>
                  <a:pt x="9771692" y="535091"/>
                  <a:pt x="9752949" y="530854"/>
                  <a:pt x="9785747" y="535781"/>
                </a:cubicBezTo>
                <a:cubicBezTo>
                  <a:pt x="9818545" y="540708"/>
                  <a:pt x="9925449" y="557390"/>
                  <a:pt x="9957993" y="561756"/>
                </a:cubicBezTo>
                <a:cubicBezTo>
                  <a:pt x="9990537" y="566122"/>
                  <a:pt x="9967648" y="568686"/>
                  <a:pt x="9981009" y="569119"/>
                </a:cubicBezTo>
                <a:cubicBezTo>
                  <a:pt x="9994370" y="569552"/>
                  <a:pt x="10023139" y="562486"/>
                  <a:pt x="10038159" y="564356"/>
                </a:cubicBezTo>
                <a:cubicBezTo>
                  <a:pt x="10057015" y="566262"/>
                  <a:pt x="10059811" y="573563"/>
                  <a:pt x="10071129" y="573194"/>
                </a:cubicBezTo>
                <a:cubicBezTo>
                  <a:pt x="10081593" y="562977"/>
                  <a:pt x="10092704" y="563090"/>
                  <a:pt x="10110830" y="569286"/>
                </a:cubicBezTo>
                <a:cubicBezTo>
                  <a:pt x="10144643" y="572070"/>
                  <a:pt x="10144670" y="561560"/>
                  <a:pt x="10177323" y="563075"/>
                </a:cubicBezTo>
                <a:cubicBezTo>
                  <a:pt x="10191652" y="562496"/>
                  <a:pt x="10199318" y="565790"/>
                  <a:pt x="10223224" y="562516"/>
                </a:cubicBezTo>
                <a:cubicBezTo>
                  <a:pt x="10240245" y="563214"/>
                  <a:pt x="10274444" y="564970"/>
                  <a:pt x="10297489" y="554688"/>
                </a:cubicBezTo>
                <a:cubicBezTo>
                  <a:pt x="10322484" y="553379"/>
                  <a:pt x="10304332" y="552915"/>
                  <a:pt x="10331612" y="555505"/>
                </a:cubicBezTo>
                <a:cubicBezTo>
                  <a:pt x="10364938" y="556023"/>
                  <a:pt x="10378810" y="549792"/>
                  <a:pt x="10398068" y="551274"/>
                </a:cubicBezTo>
                <a:cubicBezTo>
                  <a:pt x="10410608" y="547019"/>
                  <a:pt x="10396406" y="552090"/>
                  <a:pt x="10444604" y="546749"/>
                </a:cubicBezTo>
                <a:cubicBezTo>
                  <a:pt x="10463706" y="556208"/>
                  <a:pt x="10480046" y="543272"/>
                  <a:pt x="10496391" y="545310"/>
                </a:cubicBezTo>
                <a:cubicBezTo>
                  <a:pt x="10522313" y="544276"/>
                  <a:pt x="10586025" y="544389"/>
                  <a:pt x="10609659" y="542925"/>
                </a:cubicBezTo>
                <a:cubicBezTo>
                  <a:pt x="10633293" y="541461"/>
                  <a:pt x="10608137" y="539280"/>
                  <a:pt x="10638198" y="536528"/>
                </a:cubicBezTo>
                <a:cubicBezTo>
                  <a:pt x="10693566" y="548777"/>
                  <a:pt x="10724464" y="526732"/>
                  <a:pt x="10780502" y="524034"/>
                </a:cubicBezTo>
                <a:cubicBezTo>
                  <a:pt x="10814519" y="506962"/>
                  <a:pt x="10838626" y="524696"/>
                  <a:pt x="10875821" y="511631"/>
                </a:cubicBezTo>
                <a:cubicBezTo>
                  <a:pt x="10900992" y="507636"/>
                  <a:pt x="10904648" y="511453"/>
                  <a:pt x="10918825" y="509588"/>
                </a:cubicBezTo>
                <a:cubicBezTo>
                  <a:pt x="10933002" y="507723"/>
                  <a:pt x="10948992" y="503227"/>
                  <a:pt x="10960884" y="500440"/>
                </a:cubicBezTo>
                <a:cubicBezTo>
                  <a:pt x="10967249" y="504078"/>
                  <a:pt x="11016720" y="497668"/>
                  <a:pt x="11015578" y="492864"/>
                </a:cubicBezTo>
                <a:cubicBezTo>
                  <a:pt x="11022928" y="494510"/>
                  <a:pt x="11043247" y="500882"/>
                  <a:pt x="11045541" y="493276"/>
                </a:cubicBezTo>
                <a:cubicBezTo>
                  <a:pt x="11083069" y="493195"/>
                  <a:pt x="11104152" y="492128"/>
                  <a:pt x="11136980" y="502266"/>
                </a:cubicBezTo>
                <a:cubicBezTo>
                  <a:pt x="11160311" y="506043"/>
                  <a:pt x="11144016" y="504016"/>
                  <a:pt x="11158537" y="506413"/>
                </a:cubicBezTo>
                <a:cubicBezTo>
                  <a:pt x="11173058" y="508810"/>
                  <a:pt x="11197248" y="504516"/>
                  <a:pt x="11220930" y="503946"/>
                </a:cubicBezTo>
                <a:cubicBezTo>
                  <a:pt x="11244941" y="504078"/>
                  <a:pt x="11272916" y="508160"/>
                  <a:pt x="11290697" y="509588"/>
                </a:cubicBezTo>
                <a:cubicBezTo>
                  <a:pt x="11308478" y="511016"/>
                  <a:pt x="11312720" y="510673"/>
                  <a:pt x="11327615" y="512515"/>
                </a:cubicBezTo>
                <a:cubicBezTo>
                  <a:pt x="11352471" y="509065"/>
                  <a:pt x="11373358" y="510883"/>
                  <a:pt x="11391973" y="518258"/>
                </a:cubicBezTo>
                <a:cubicBezTo>
                  <a:pt x="11406458" y="520151"/>
                  <a:pt x="11399034" y="524460"/>
                  <a:pt x="11409760" y="526257"/>
                </a:cubicBezTo>
                <a:cubicBezTo>
                  <a:pt x="11420486" y="528054"/>
                  <a:pt x="11427325" y="519930"/>
                  <a:pt x="11456330" y="521896"/>
                </a:cubicBezTo>
                <a:cubicBezTo>
                  <a:pt x="11466649" y="522293"/>
                  <a:pt x="11466304" y="529914"/>
                  <a:pt x="11488341" y="531019"/>
                </a:cubicBezTo>
                <a:cubicBezTo>
                  <a:pt x="11510378" y="532124"/>
                  <a:pt x="11598983" y="536881"/>
                  <a:pt x="11631415" y="538053"/>
                </a:cubicBezTo>
                <a:cubicBezTo>
                  <a:pt x="11663847" y="539225"/>
                  <a:pt x="11650717" y="536007"/>
                  <a:pt x="11666264" y="535672"/>
                </a:cubicBezTo>
                <a:cubicBezTo>
                  <a:pt x="11681811" y="535337"/>
                  <a:pt x="11700204" y="526934"/>
                  <a:pt x="11724698" y="536041"/>
                </a:cubicBezTo>
                <a:cubicBezTo>
                  <a:pt x="11743020" y="531196"/>
                  <a:pt x="11743491" y="542315"/>
                  <a:pt x="11763807" y="545183"/>
                </a:cubicBezTo>
                <a:cubicBezTo>
                  <a:pt x="11775016" y="549241"/>
                  <a:pt x="11789046" y="548064"/>
                  <a:pt x="11798300" y="550863"/>
                </a:cubicBezTo>
                <a:cubicBezTo>
                  <a:pt x="11807554" y="553662"/>
                  <a:pt x="11814870" y="554166"/>
                  <a:pt x="11821716" y="557213"/>
                </a:cubicBezTo>
                <a:cubicBezTo>
                  <a:pt x="11828562" y="560260"/>
                  <a:pt x="11830643" y="566367"/>
                  <a:pt x="11839374" y="569145"/>
                </a:cubicBezTo>
                <a:cubicBezTo>
                  <a:pt x="11848105" y="571923"/>
                  <a:pt x="11861759" y="576813"/>
                  <a:pt x="11871722" y="578644"/>
                </a:cubicBezTo>
                <a:cubicBezTo>
                  <a:pt x="11881685" y="580475"/>
                  <a:pt x="11880173" y="577641"/>
                  <a:pt x="11899154" y="580133"/>
                </a:cubicBezTo>
                <a:cubicBezTo>
                  <a:pt x="11930093" y="585454"/>
                  <a:pt x="11957956" y="589309"/>
                  <a:pt x="11992753" y="588833"/>
                </a:cubicBezTo>
                <a:cubicBezTo>
                  <a:pt x="11999276" y="598540"/>
                  <a:pt x="12009663" y="594134"/>
                  <a:pt x="12023554" y="588997"/>
                </a:cubicBezTo>
                <a:cubicBezTo>
                  <a:pt x="12049522" y="596077"/>
                  <a:pt x="12093380" y="601562"/>
                  <a:pt x="12137802" y="617391"/>
                </a:cubicBezTo>
                <a:cubicBezTo>
                  <a:pt x="12156710" y="627093"/>
                  <a:pt x="12160884" y="628759"/>
                  <a:pt x="12174434" y="631430"/>
                </a:cubicBezTo>
                <a:lnTo>
                  <a:pt x="12192000" y="634770"/>
                </a:lnTo>
                <a:lnTo>
                  <a:pt x="12192000" y="6857681"/>
                </a:lnTo>
                <a:lnTo>
                  <a:pt x="9979612" y="6857681"/>
                </a:lnTo>
                <a:lnTo>
                  <a:pt x="9971269" y="6854457"/>
                </a:lnTo>
                <a:cubicBezTo>
                  <a:pt x="9959912" y="6851181"/>
                  <a:pt x="9949163" y="6849764"/>
                  <a:pt x="9939502" y="6851921"/>
                </a:cubicBezTo>
                <a:cubicBezTo>
                  <a:pt x="9891606" y="6835635"/>
                  <a:pt x="9864404" y="6844006"/>
                  <a:pt x="9834453" y="6832151"/>
                </a:cubicBezTo>
                <a:cubicBezTo>
                  <a:pt x="9804501" y="6820296"/>
                  <a:pt x="9801374" y="6798259"/>
                  <a:pt x="9759795" y="6780787"/>
                </a:cubicBezTo>
                <a:cubicBezTo>
                  <a:pt x="9718217" y="6763314"/>
                  <a:pt x="9629817" y="6740362"/>
                  <a:pt x="9584980" y="6727313"/>
                </a:cubicBezTo>
                <a:cubicBezTo>
                  <a:pt x="9546420" y="6722010"/>
                  <a:pt x="9530408" y="6725469"/>
                  <a:pt x="9490770" y="6702489"/>
                </a:cubicBezTo>
                <a:cubicBezTo>
                  <a:pt x="9443320" y="6701025"/>
                  <a:pt x="9424336" y="6690023"/>
                  <a:pt x="9380405" y="6676541"/>
                </a:cubicBezTo>
                <a:cubicBezTo>
                  <a:pt x="9335978" y="6675243"/>
                  <a:pt x="9297645" y="6680915"/>
                  <a:pt x="9259939" y="6674414"/>
                </a:cubicBezTo>
                <a:cubicBezTo>
                  <a:pt x="9244772" y="6679394"/>
                  <a:pt x="9230416" y="6681084"/>
                  <a:pt x="9216296" y="6672209"/>
                </a:cubicBezTo>
                <a:cubicBezTo>
                  <a:pt x="9174886" y="6673387"/>
                  <a:pt x="9165078" y="6684906"/>
                  <a:pt x="9138624" y="6674601"/>
                </a:cubicBezTo>
                <a:cubicBezTo>
                  <a:pt x="9108454" y="6672027"/>
                  <a:pt x="9060163" y="6657862"/>
                  <a:pt x="9035273" y="6656766"/>
                </a:cubicBezTo>
                <a:cubicBezTo>
                  <a:pt x="9043993" y="6670577"/>
                  <a:pt x="8988276" y="6655711"/>
                  <a:pt x="8989286" y="6668016"/>
                </a:cubicBezTo>
                <a:cubicBezTo>
                  <a:pt x="8965548" y="6651220"/>
                  <a:pt x="8960144" y="6673151"/>
                  <a:pt x="8932387" y="6668707"/>
                </a:cubicBezTo>
                <a:cubicBezTo>
                  <a:pt x="8918435" y="6662528"/>
                  <a:pt x="8909159" y="6661716"/>
                  <a:pt x="8898375" y="6669282"/>
                </a:cubicBezTo>
                <a:cubicBezTo>
                  <a:pt x="8833747" y="6639096"/>
                  <a:pt x="8863155" y="6669089"/>
                  <a:pt x="8806495" y="6658618"/>
                </a:cubicBezTo>
                <a:cubicBezTo>
                  <a:pt x="8757168" y="6647242"/>
                  <a:pt x="8702613" y="6640665"/>
                  <a:pt x="8650927" y="6611139"/>
                </a:cubicBezTo>
                <a:cubicBezTo>
                  <a:pt x="8640770" y="6602610"/>
                  <a:pt x="8619775" y="6599998"/>
                  <a:pt x="8604033" y="6605300"/>
                </a:cubicBezTo>
                <a:cubicBezTo>
                  <a:pt x="8601324" y="6606213"/>
                  <a:pt x="8598878" y="6607331"/>
                  <a:pt x="8596767" y="6608618"/>
                </a:cubicBezTo>
                <a:cubicBezTo>
                  <a:pt x="8565299" y="6587556"/>
                  <a:pt x="8548876" y="6598771"/>
                  <a:pt x="8533762" y="6584302"/>
                </a:cubicBezTo>
                <a:cubicBezTo>
                  <a:pt x="8487059" y="6579247"/>
                  <a:pt x="8451683" y="6594395"/>
                  <a:pt x="8437660" y="6581725"/>
                </a:cubicBezTo>
                <a:cubicBezTo>
                  <a:pt x="8414209" y="6582991"/>
                  <a:pt x="8383722" y="6598678"/>
                  <a:pt x="8364494" y="6585073"/>
                </a:cubicBezTo>
                <a:cubicBezTo>
                  <a:pt x="8363342" y="6596536"/>
                  <a:pt x="8336540" y="6576888"/>
                  <a:pt x="8323751" y="6584665"/>
                </a:cubicBezTo>
                <a:cubicBezTo>
                  <a:pt x="8314841" y="6591411"/>
                  <a:pt x="8304634" y="6587022"/>
                  <a:pt x="8293791" y="6586903"/>
                </a:cubicBezTo>
                <a:cubicBezTo>
                  <a:pt x="8280721" y="6592424"/>
                  <a:pt x="8232642" y="6585021"/>
                  <a:pt x="8219223" y="6578961"/>
                </a:cubicBezTo>
                <a:cubicBezTo>
                  <a:pt x="8185638" y="6557431"/>
                  <a:pt x="8123924" y="6576522"/>
                  <a:pt x="8096330" y="6560092"/>
                </a:cubicBezTo>
                <a:cubicBezTo>
                  <a:pt x="8087121" y="6557869"/>
                  <a:pt x="8078422" y="6557144"/>
                  <a:pt x="8070086" y="6557355"/>
                </a:cubicBezTo>
                <a:lnTo>
                  <a:pt x="8047207" y="6560092"/>
                </a:lnTo>
                <a:lnTo>
                  <a:pt x="8041620" y="6565163"/>
                </a:lnTo>
                <a:lnTo>
                  <a:pt x="8027134" y="6564473"/>
                </a:lnTo>
                <a:lnTo>
                  <a:pt x="8023214" y="6565355"/>
                </a:lnTo>
                <a:cubicBezTo>
                  <a:pt x="8015729" y="6567060"/>
                  <a:pt x="8008307" y="6568574"/>
                  <a:pt x="8000801" y="6569339"/>
                </a:cubicBezTo>
                <a:cubicBezTo>
                  <a:pt x="8005606" y="6544751"/>
                  <a:pt x="7937754" y="6571777"/>
                  <a:pt x="7954618" y="6551428"/>
                </a:cubicBezTo>
                <a:cubicBezTo>
                  <a:pt x="7914215" y="6551344"/>
                  <a:pt x="7940865" y="6531998"/>
                  <a:pt x="7896427" y="6551123"/>
                </a:cubicBezTo>
                <a:lnTo>
                  <a:pt x="7643090" y="6532163"/>
                </a:lnTo>
                <a:cubicBezTo>
                  <a:pt x="7673996" y="6576436"/>
                  <a:pt x="7562550" y="6494154"/>
                  <a:pt x="7553164" y="6525457"/>
                </a:cubicBezTo>
                <a:cubicBezTo>
                  <a:pt x="7546247" y="6496957"/>
                  <a:pt x="7465610" y="6497391"/>
                  <a:pt x="7421154" y="6476273"/>
                </a:cubicBezTo>
                <a:cubicBezTo>
                  <a:pt x="7361551" y="6472649"/>
                  <a:pt x="7315144" y="6450550"/>
                  <a:pt x="7255968" y="6462166"/>
                </a:cubicBezTo>
                <a:cubicBezTo>
                  <a:pt x="7253251" y="6458417"/>
                  <a:pt x="7249451" y="6455333"/>
                  <a:pt x="7244911" y="6452730"/>
                </a:cubicBezTo>
                <a:lnTo>
                  <a:pt x="7230265" y="6446549"/>
                </a:lnTo>
                <a:lnTo>
                  <a:pt x="7227815" y="6447125"/>
                </a:lnTo>
                <a:cubicBezTo>
                  <a:pt x="7217801" y="6447570"/>
                  <a:pt x="7212312" y="6446146"/>
                  <a:pt x="7208840" y="6443899"/>
                </a:cubicBezTo>
                <a:lnTo>
                  <a:pt x="7205995" y="6440529"/>
                </a:lnTo>
                <a:lnTo>
                  <a:pt x="7193384" y="6437481"/>
                </a:lnTo>
                <a:lnTo>
                  <a:pt x="7169652" y="6429226"/>
                </a:lnTo>
                <a:lnTo>
                  <a:pt x="7164173" y="6429791"/>
                </a:lnTo>
                <a:lnTo>
                  <a:pt x="7126763" y="6420626"/>
                </a:lnTo>
                <a:lnTo>
                  <a:pt x="7125753" y="6421501"/>
                </a:lnTo>
                <a:cubicBezTo>
                  <a:pt x="7122639" y="6423254"/>
                  <a:pt x="7118733" y="6424154"/>
                  <a:pt x="7113057" y="6423293"/>
                </a:cubicBezTo>
                <a:cubicBezTo>
                  <a:pt x="7114552" y="6439288"/>
                  <a:pt x="7106783" y="6428384"/>
                  <a:pt x="7089914" y="6424434"/>
                </a:cubicBezTo>
                <a:cubicBezTo>
                  <a:pt x="7088470" y="6448394"/>
                  <a:pt x="7044915" y="6428308"/>
                  <a:pt x="7030458" y="6439456"/>
                </a:cubicBezTo>
                <a:cubicBezTo>
                  <a:pt x="7018098" y="6436014"/>
                  <a:pt x="7005002" y="6432811"/>
                  <a:pt x="6991398" y="6430012"/>
                </a:cubicBezTo>
                <a:lnTo>
                  <a:pt x="6983250" y="6428652"/>
                </a:lnTo>
                <a:lnTo>
                  <a:pt x="6982969" y="6428851"/>
                </a:lnTo>
                <a:cubicBezTo>
                  <a:pt x="6980946" y="6429033"/>
                  <a:pt x="6978171" y="6428766"/>
                  <a:pt x="6974140" y="6427864"/>
                </a:cubicBezTo>
                <a:lnTo>
                  <a:pt x="6968396" y="6426177"/>
                </a:lnTo>
                <a:lnTo>
                  <a:pt x="6952590" y="6423541"/>
                </a:lnTo>
                <a:lnTo>
                  <a:pt x="6946361" y="6424122"/>
                </a:lnTo>
                <a:lnTo>
                  <a:pt x="6942752" y="6426497"/>
                </a:lnTo>
                <a:lnTo>
                  <a:pt x="6941472" y="6425953"/>
                </a:lnTo>
                <a:cubicBezTo>
                  <a:pt x="6933258" y="6419432"/>
                  <a:pt x="6934084" y="6412085"/>
                  <a:pt x="6907932" y="6428597"/>
                </a:cubicBezTo>
                <a:cubicBezTo>
                  <a:pt x="6887113" y="6416820"/>
                  <a:pt x="6874835" y="6427475"/>
                  <a:pt x="6837100" y="6425985"/>
                </a:cubicBezTo>
                <a:cubicBezTo>
                  <a:pt x="6826990" y="6416391"/>
                  <a:pt x="6813527" y="6417132"/>
                  <a:pt x="6798354" y="6421041"/>
                </a:cubicBezTo>
                <a:cubicBezTo>
                  <a:pt x="6766250" y="6412267"/>
                  <a:pt x="6729955" y="6415375"/>
                  <a:pt x="6690235" y="6411268"/>
                </a:cubicBezTo>
                <a:cubicBezTo>
                  <a:pt x="6654585" y="6395260"/>
                  <a:pt x="6622599" y="6408785"/>
                  <a:pt x="6580197" y="6404322"/>
                </a:cubicBezTo>
                <a:cubicBezTo>
                  <a:pt x="6554864" y="6382418"/>
                  <a:pt x="6541862" y="6413854"/>
                  <a:pt x="6516748" y="6416928"/>
                </a:cubicBezTo>
                <a:lnTo>
                  <a:pt x="6510427" y="6416567"/>
                </a:lnTo>
                <a:lnTo>
                  <a:pt x="6496409" y="6411723"/>
                </a:lnTo>
                <a:lnTo>
                  <a:pt x="6491671" y="6409264"/>
                </a:lnTo>
                <a:cubicBezTo>
                  <a:pt x="6488210" y="6407807"/>
                  <a:pt x="6485652" y="6407144"/>
                  <a:pt x="6483603" y="6407023"/>
                </a:cubicBezTo>
                <a:lnTo>
                  <a:pt x="6483235" y="6407169"/>
                </a:lnTo>
                <a:lnTo>
                  <a:pt x="6476007" y="6404672"/>
                </a:lnTo>
                <a:cubicBezTo>
                  <a:pt x="6464202" y="6399995"/>
                  <a:pt x="6453088" y="6395002"/>
                  <a:pt x="6442802" y="6389891"/>
                </a:cubicBezTo>
                <a:cubicBezTo>
                  <a:pt x="6423332" y="6398448"/>
                  <a:pt x="6390988" y="6372810"/>
                  <a:pt x="6377838" y="6395551"/>
                </a:cubicBezTo>
                <a:cubicBezTo>
                  <a:pt x="6363436" y="6389290"/>
                  <a:pt x="6361258" y="6377704"/>
                  <a:pt x="6354860" y="6393247"/>
                </a:cubicBezTo>
                <a:cubicBezTo>
                  <a:pt x="6349784" y="6391587"/>
                  <a:pt x="6345558" y="6391878"/>
                  <a:pt x="6341683" y="6393098"/>
                </a:cubicBezTo>
                <a:lnTo>
                  <a:pt x="6340276" y="6393789"/>
                </a:lnTo>
                <a:lnTo>
                  <a:pt x="6308531" y="6379516"/>
                </a:lnTo>
                <a:lnTo>
                  <a:pt x="6302948" y="6379253"/>
                </a:lnTo>
                <a:cubicBezTo>
                  <a:pt x="6248814" y="6382108"/>
                  <a:pt x="6205926" y="6362006"/>
                  <a:pt x="6140607" y="6334265"/>
                </a:cubicBezTo>
                <a:cubicBezTo>
                  <a:pt x="6137487" y="6331108"/>
                  <a:pt x="6051161" y="6339116"/>
                  <a:pt x="6050365" y="6335126"/>
                </a:cubicBezTo>
                <a:cubicBezTo>
                  <a:pt x="6006576" y="6331181"/>
                  <a:pt x="6035144" y="6327580"/>
                  <a:pt x="5978838" y="6322018"/>
                </a:cubicBezTo>
                <a:cubicBezTo>
                  <a:pt x="5962530" y="6314338"/>
                  <a:pt x="5894920" y="6289616"/>
                  <a:pt x="5897645" y="6301654"/>
                </a:cubicBezTo>
                <a:lnTo>
                  <a:pt x="5796158" y="6279213"/>
                </a:lnTo>
                <a:lnTo>
                  <a:pt x="5664797" y="6258481"/>
                </a:lnTo>
                <a:lnTo>
                  <a:pt x="5558293" y="6242384"/>
                </a:lnTo>
                <a:lnTo>
                  <a:pt x="5549921" y="6243309"/>
                </a:lnTo>
                <a:lnTo>
                  <a:pt x="5528450" y="6240218"/>
                </a:lnTo>
                <a:lnTo>
                  <a:pt x="5520604" y="6238128"/>
                </a:lnTo>
                <a:cubicBezTo>
                  <a:pt x="5515114" y="6237034"/>
                  <a:pt x="5511354" y="6236750"/>
                  <a:pt x="5508634" y="6237043"/>
                </a:cubicBezTo>
                <a:lnTo>
                  <a:pt x="5508268" y="6237311"/>
                </a:lnTo>
                <a:lnTo>
                  <a:pt x="5497199" y="6235718"/>
                </a:lnTo>
                <a:cubicBezTo>
                  <a:pt x="5478687" y="6232353"/>
                  <a:pt x="5460838" y="6228438"/>
                  <a:pt x="5443971" y="6224189"/>
                </a:cubicBezTo>
                <a:cubicBezTo>
                  <a:pt x="5425088" y="6239333"/>
                  <a:pt x="5365198" y="6213813"/>
                  <a:pt x="5364587" y="6245607"/>
                </a:cubicBezTo>
                <a:cubicBezTo>
                  <a:pt x="5341603" y="6240798"/>
                  <a:pt x="5330518" y="6226543"/>
                  <a:pt x="5333425" y="6247706"/>
                </a:cubicBezTo>
                <a:cubicBezTo>
                  <a:pt x="5325718" y="6246708"/>
                  <a:pt x="5320498" y="6247999"/>
                  <a:pt x="5316391" y="6250403"/>
                </a:cubicBezTo>
                <a:lnTo>
                  <a:pt x="5315083" y="6251588"/>
                </a:lnTo>
                <a:lnTo>
                  <a:pt x="5264093" y="6240388"/>
                </a:lnTo>
                <a:lnTo>
                  <a:pt x="5256734" y="6241276"/>
                </a:lnTo>
                <a:lnTo>
                  <a:pt x="5224251" y="6230935"/>
                </a:lnTo>
                <a:lnTo>
                  <a:pt x="5207068" y="6227214"/>
                </a:lnTo>
                <a:lnTo>
                  <a:pt x="5203042" y="6222819"/>
                </a:lnTo>
                <a:lnTo>
                  <a:pt x="5013633" y="6212104"/>
                </a:lnTo>
                <a:cubicBezTo>
                  <a:pt x="5007363" y="6208771"/>
                  <a:pt x="4867451" y="6189553"/>
                  <a:pt x="4863573" y="6184654"/>
                </a:cubicBezTo>
                <a:lnTo>
                  <a:pt x="4651416" y="6166539"/>
                </a:lnTo>
                <a:cubicBezTo>
                  <a:pt x="4624977" y="6160344"/>
                  <a:pt x="4469364" y="6128170"/>
                  <a:pt x="4481486" y="6142882"/>
                </a:cubicBezTo>
                <a:cubicBezTo>
                  <a:pt x="4405439" y="6106748"/>
                  <a:pt x="4365783" y="6101727"/>
                  <a:pt x="4269331" y="6098123"/>
                </a:cubicBezTo>
                <a:cubicBezTo>
                  <a:pt x="4210440" y="6124597"/>
                  <a:pt x="4245321" y="6098279"/>
                  <a:pt x="4190801" y="6099192"/>
                </a:cubicBezTo>
                <a:cubicBezTo>
                  <a:pt x="4212420" y="6071793"/>
                  <a:pt x="4151268" y="6084104"/>
                  <a:pt x="4127486" y="6076624"/>
                </a:cubicBezTo>
                <a:cubicBezTo>
                  <a:pt x="4117403" y="6077826"/>
                  <a:pt x="4107474" y="6080022"/>
                  <a:pt x="4097468" y="6082472"/>
                </a:cubicBezTo>
                <a:lnTo>
                  <a:pt x="4092230" y="6083737"/>
                </a:lnTo>
                <a:lnTo>
                  <a:pt x="4072646" y="6083192"/>
                </a:lnTo>
                <a:lnTo>
                  <a:pt x="4065392" y="6090055"/>
                </a:lnTo>
                <a:lnTo>
                  <a:pt x="4034674" y="6094262"/>
                </a:lnTo>
                <a:cubicBezTo>
                  <a:pt x="4023438" y="6094753"/>
                  <a:pt x="4011659" y="6094013"/>
                  <a:pt x="3999109" y="6091300"/>
                </a:cubicBezTo>
                <a:cubicBezTo>
                  <a:pt x="3960965" y="6070220"/>
                  <a:pt x="3878759" y="6097089"/>
                  <a:pt x="3832245" y="6069403"/>
                </a:cubicBezTo>
                <a:cubicBezTo>
                  <a:pt x="3780875" y="6064935"/>
                  <a:pt x="3723613" y="6065226"/>
                  <a:pt x="3690889" y="6064489"/>
                </a:cubicBezTo>
                <a:cubicBezTo>
                  <a:pt x="3674068" y="6075123"/>
                  <a:pt x="3636813" y="6049759"/>
                  <a:pt x="3635899" y="6064980"/>
                </a:cubicBezTo>
                <a:lnTo>
                  <a:pt x="3620576" y="6070271"/>
                </a:lnTo>
                <a:lnTo>
                  <a:pt x="3604087" y="6064439"/>
                </a:lnTo>
                <a:cubicBezTo>
                  <a:pt x="3590166" y="6069757"/>
                  <a:pt x="3579308" y="6073243"/>
                  <a:pt x="3568387" y="6069146"/>
                </a:cubicBezTo>
                <a:lnTo>
                  <a:pt x="3503818" y="6089506"/>
                </a:lnTo>
                <a:cubicBezTo>
                  <a:pt x="3510915" y="6100196"/>
                  <a:pt x="3472416" y="6088681"/>
                  <a:pt x="3466246" y="6098777"/>
                </a:cubicBezTo>
                <a:cubicBezTo>
                  <a:pt x="3462890" y="6107015"/>
                  <a:pt x="3450430" y="6105442"/>
                  <a:pt x="3440422" y="6107901"/>
                </a:cubicBezTo>
                <a:cubicBezTo>
                  <a:pt x="3432391" y="6116010"/>
                  <a:pt x="3383132" y="6120663"/>
                  <a:pt x="3366542" y="6118330"/>
                </a:cubicBezTo>
                <a:cubicBezTo>
                  <a:pt x="3311828" y="6124732"/>
                  <a:pt x="3277604" y="6138667"/>
                  <a:pt x="3240669" y="6130264"/>
                </a:cubicBezTo>
                <a:cubicBezTo>
                  <a:pt x="3230661" y="6130422"/>
                  <a:pt x="3222184" y="6131822"/>
                  <a:pt x="3214708" y="6133988"/>
                </a:cubicBezTo>
                <a:lnTo>
                  <a:pt x="3194214" y="6147821"/>
                </a:lnTo>
                <a:lnTo>
                  <a:pt x="3180468" y="6150623"/>
                </a:lnTo>
                <a:lnTo>
                  <a:pt x="3177508" y="6152351"/>
                </a:lnTo>
                <a:cubicBezTo>
                  <a:pt x="3171873" y="6155673"/>
                  <a:pt x="3166158" y="6158806"/>
                  <a:pt x="3159834" y="6161276"/>
                </a:cubicBezTo>
                <a:cubicBezTo>
                  <a:pt x="3135185" y="6159416"/>
                  <a:pt x="3121213" y="6160394"/>
                  <a:pt x="3104835" y="6155927"/>
                </a:cubicBezTo>
                <a:cubicBezTo>
                  <a:pt x="3067805" y="6165414"/>
                  <a:pt x="3078432" y="6141523"/>
                  <a:pt x="3051373" y="6169421"/>
                </a:cubicBezTo>
                <a:cubicBezTo>
                  <a:pt x="2978033" y="6169169"/>
                  <a:pt x="2947947" y="6220998"/>
                  <a:pt x="2877306" y="6208324"/>
                </a:cubicBezTo>
                <a:cubicBezTo>
                  <a:pt x="2821913" y="6217975"/>
                  <a:pt x="2762952" y="6223226"/>
                  <a:pt x="2719018" y="6227333"/>
                </a:cubicBezTo>
                <a:cubicBezTo>
                  <a:pt x="2639811" y="6232636"/>
                  <a:pt x="2504877" y="6234795"/>
                  <a:pt x="2454061" y="6236538"/>
                </a:cubicBezTo>
                <a:cubicBezTo>
                  <a:pt x="2403245" y="6238280"/>
                  <a:pt x="2420126" y="6239079"/>
                  <a:pt x="2414120" y="6237789"/>
                </a:cubicBezTo>
                <a:lnTo>
                  <a:pt x="2384765" y="6235638"/>
                </a:lnTo>
                <a:lnTo>
                  <a:pt x="2365600" y="6233135"/>
                </a:lnTo>
                <a:cubicBezTo>
                  <a:pt x="2356752" y="6235910"/>
                  <a:pt x="2350716" y="6235915"/>
                  <a:pt x="2345941" y="6234695"/>
                </a:cubicBezTo>
                <a:lnTo>
                  <a:pt x="2340941" y="6232305"/>
                </a:lnTo>
                <a:lnTo>
                  <a:pt x="2327235" y="6232519"/>
                </a:lnTo>
                <a:lnTo>
                  <a:pt x="2299646" y="6230633"/>
                </a:lnTo>
                <a:lnTo>
                  <a:pt x="2295035" y="6232443"/>
                </a:lnTo>
                <a:lnTo>
                  <a:pt x="2268728" y="6240177"/>
                </a:lnTo>
                <a:cubicBezTo>
                  <a:pt x="2268628" y="6240521"/>
                  <a:pt x="2254084" y="6233657"/>
                  <a:pt x="2253984" y="6234001"/>
                </a:cubicBezTo>
                <a:cubicBezTo>
                  <a:pt x="2239122" y="6237048"/>
                  <a:pt x="2209108" y="6234931"/>
                  <a:pt x="2191113" y="6240434"/>
                </a:cubicBezTo>
                <a:lnTo>
                  <a:pt x="2146012" y="6259810"/>
                </a:lnTo>
                <a:cubicBezTo>
                  <a:pt x="2145973" y="6259892"/>
                  <a:pt x="2128598" y="6274390"/>
                  <a:pt x="2128560" y="6274472"/>
                </a:cubicBezTo>
                <a:cubicBezTo>
                  <a:pt x="2126838" y="6275117"/>
                  <a:pt x="2124109" y="6275530"/>
                  <a:pt x="2119778" y="6275665"/>
                </a:cubicBezTo>
                <a:lnTo>
                  <a:pt x="2110434" y="6282700"/>
                </a:lnTo>
                <a:lnTo>
                  <a:pt x="2081418" y="6289059"/>
                </a:lnTo>
                <a:lnTo>
                  <a:pt x="2088526" y="6281659"/>
                </a:lnTo>
                <a:cubicBezTo>
                  <a:pt x="2076371" y="6277676"/>
                  <a:pt x="2071903" y="6270803"/>
                  <a:pt x="2059717" y="6292002"/>
                </a:cubicBezTo>
                <a:cubicBezTo>
                  <a:pt x="2032291" y="6286224"/>
                  <a:pt x="2028634" y="6298813"/>
                  <a:pt x="1993045" y="6306390"/>
                </a:cubicBezTo>
                <a:cubicBezTo>
                  <a:pt x="1976971" y="6300063"/>
                  <a:pt x="1965178" y="6303922"/>
                  <a:pt x="1954075" y="6311066"/>
                </a:cubicBezTo>
                <a:cubicBezTo>
                  <a:pt x="1918456" y="6310689"/>
                  <a:pt x="1887456" y="6322102"/>
                  <a:pt x="1848190" y="6327771"/>
                </a:cubicBezTo>
                <a:lnTo>
                  <a:pt x="1737951" y="6344513"/>
                </a:lnTo>
                <a:lnTo>
                  <a:pt x="1696709" y="6346605"/>
                </a:lnTo>
                <a:cubicBezTo>
                  <a:pt x="1692504" y="6346100"/>
                  <a:pt x="1663837" y="6347211"/>
                  <a:pt x="1661872" y="6347587"/>
                </a:cubicBezTo>
                <a:lnTo>
                  <a:pt x="1655864" y="6347808"/>
                </a:lnTo>
                <a:lnTo>
                  <a:pt x="1633028" y="6358060"/>
                </a:lnTo>
                <a:cubicBezTo>
                  <a:pt x="1618899" y="6356602"/>
                  <a:pt x="1619623" y="6369112"/>
                  <a:pt x="1606576" y="6366899"/>
                </a:cubicBezTo>
                <a:lnTo>
                  <a:pt x="1461291" y="6379054"/>
                </a:lnTo>
                <a:lnTo>
                  <a:pt x="1428798" y="6379606"/>
                </a:lnTo>
                <a:cubicBezTo>
                  <a:pt x="1424834" y="6377722"/>
                  <a:pt x="1419064" y="6376842"/>
                  <a:pt x="1409244" y="6378241"/>
                </a:cubicBezTo>
                <a:lnTo>
                  <a:pt x="1406951" y="6379043"/>
                </a:lnTo>
                <a:lnTo>
                  <a:pt x="1391002" y="6374347"/>
                </a:lnTo>
                <a:cubicBezTo>
                  <a:pt x="1385899" y="6372215"/>
                  <a:pt x="1381417" y="6369535"/>
                  <a:pt x="1377852" y="6366097"/>
                </a:cubicBezTo>
                <a:cubicBezTo>
                  <a:pt x="1352108" y="6365458"/>
                  <a:pt x="1267249" y="6359383"/>
                  <a:pt x="1239424" y="6359700"/>
                </a:cubicBezTo>
                <a:cubicBezTo>
                  <a:pt x="1211599" y="6360016"/>
                  <a:pt x="1221978" y="6361392"/>
                  <a:pt x="1208014" y="6357188"/>
                </a:cubicBezTo>
                <a:lnTo>
                  <a:pt x="1152751" y="6345283"/>
                </a:lnTo>
                <a:lnTo>
                  <a:pt x="949771" y="6335308"/>
                </a:lnTo>
                <a:cubicBezTo>
                  <a:pt x="888502" y="6312655"/>
                  <a:pt x="822682" y="6331858"/>
                  <a:pt x="752723" y="6320875"/>
                </a:cubicBezTo>
                <a:cubicBezTo>
                  <a:pt x="697396" y="6317271"/>
                  <a:pt x="686655" y="6275609"/>
                  <a:pt x="665167" y="6275293"/>
                </a:cubicBezTo>
                <a:cubicBezTo>
                  <a:pt x="657908" y="6276764"/>
                  <a:pt x="625159" y="6270979"/>
                  <a:pt x="618141" y="6273378"/>
                </a:cubicBezTo>
                <a:cubicBezTo>
                  <a:pt x="606112" y="6250236"/>
                  <a:pt x="628751" y="6263137"/>
                  <a:pt x="596498" y="6261621"/>
                </a:cubicBezTo>
                <a:cubicBezTo>
                  <a:pt x="598654" y="6267969"/>
                  <a:pt x="583476" y="6241875"/>
                  <a:pt x="568296" y="6259035"/>
                </a:cubicBezTo>
                <a:lnTo>
                  <a:pt x="550874" y="6247808"/>
                </a:lnTo>
                <a:lnTo>
                  <a:pt x="521056" y="6251759"/>
                </a:lnTo>
                <a:cubicBezTo>
                  <a:pt x="512844" y="6252767"/>
                  <a:pt x="496898" y="6238469"/>
                  <a:pt x="487255" y="6237156"/>
                </a:cubicBezTo>
                <a:cubicBezTo>
                  <a:pt x="449168" y="6235869"/>
                  <a:pt x="452372" y="6218847"/>
                  <a:pt x="431825" y="6228675"/>
                </a:cubicBezTo>
                <a:cubicBezTo>
                  <a:pt x="409674" y="6239271"/>
                  <a:pt x="353899" y="6202116"/>
                  <a:pt x="346639" y="6209624"/>
                </a:cubicBezTo>
                <a:cubicBezTo>
                  <a:pt x="335776" y="6218525"/>
                  <a:pt x="269484" y="6176632"/>
                  <a:pt x="271007" y="6188053"/>
                </a:cubicBezTo>
                <a:cubicBezTo>
                  <a:pt x="223668" y="6157668"/>
                  <a:pt x="207158" y="6173403"/>
                  <a:pt x="189996" y="6162482"/>
                </a:cubicBezTo>
                <a:cubicBezTo>
                  <a:pt x="167941" y="6147838"/>
                  <a:pt x="134526" y="6155297"/>
                  <a:pt x="121342" y="6139836"/>
                </a:cubicBezTo>
                <a:cubicBezTo>
                  <a:pt x="108158" y="6124375"/>
                  <a:pt x="113782" y="6146084"/>
                  <a:pt x="90669" y="6116573"/>
                </a:cubicBezTo>
                <a:cubicBezTo>
                  <a:pt x="76705" y="6097951"/>
                  <a:pt x="64226" y="6077165"/>
                  <a:pt x="49115" y="6053333"/>
                </a:cubicBezTo>
                <a:cubicBezTo>
                  <a:pt x="34004" y="6029501"/>
                  <a:pt x="12038" y="6070748"/>
                  <a:pt x="0" y="6024041"/>
                </a:cubicBezTo>
                <a:close/>
              </a:path>
            </a:pathLst>
          </a:cu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245B52-78FC-CA80-2EAF-A100E60C0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7B1038B-87B6-4EEB-B4D7-F992AF662854}" type="slidenum">
              <a:rPr lang="en-CA" sz="10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CA" sz="1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892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C1903739-1044-7F11-6D12-8D53870A2C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03" b="-1"/>
          <a:stretch/>
        </p:blipFill>
        <p:spPr>
          <a:xfrm>
            <a:off x="196850" y="173518"/>
            <a:ext cx="11798300" cy="651276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A1A13A-A1A9-8FAB-8CFB-95FEB516C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7B1038B-87B6-4EEB-B4D7-F992AF662854}" type="slidenum">
              <a:rPr lang="en-CA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CA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717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6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C0B5D-EAB0-7100-8935-6F00C2FFA9A7}"/>
              </a:ext>
            </a:extLst>
          </p:cNvPr>
          <p:cNvSpPr txBox="1"/>
          <p:nvPr/>
        </p:nvSpPr>
        <p:spPr>
          <a:xfrm>
            <a:off x="906133" y="141024"/>
            <a:ext cx="5050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R Markdown – Killer feature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B09318-F5F1-F2E0-EDBD-2F80080CDA97}"/>
              </a:ext>
            </a:extLst>
          </p:cNvPr>
          <p:cNvSpPr txBox="1"/>
          <p:nvPr/>
        </p:nvSpPr>
        <p:spPr>
          <a:xfrm>
            <a:off x="983417" y="989831"/>
            <a:ext cx="10370383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 User created things are amazing</a:t>
            </a:r>
          </a:p>
          <a:p>
            <a:endParaRPr lang="en-CA" sz="2400" dirty="0"/>
          </a:p>
          <a:p>
            <a:r>
              <a:rPr lang="en-CA" sz="2400" dirty="0"/>
              <a:t># </a:t>
            </a:r>
            <a:r>
              <a:rPr lang="en-CA" sz="2400" dirty="0">
                <a:hlinkClick r:id="rId2"/>
              </a:rPr>
              <a:t>https://rmarkdown.rstudio.com/</a:t>
            </a:r>
            <a:r>
              <a:rPr lang="en-CA" sz="2400" dirty="0"/>
              <a:t> </a:t>
            </a:r>
            <a:endParaRPr lang="en-CA" sz="1600" dirty="0"/>
          </a:p>
          <a:p>
            <a:endParaRPr lang="en-CA" sz="1600" dirty="0"/>
          </a:p>
          <a:p>
            <a:r>
              <a:rPr lang="en-CA" sz="2400" dirty="0"/>
              <a:t># Basic idea of R Markdown is to integrate statistical code, output, and interpretation into one generic, reproducible, and transferable file format</a:t>
            </a:r>
          </a:p>
          <a:p>
            <a:endParaRPr lang="en-CA" sz="2400" dirty="0"/>
          </a:p>
          <a:p>
            <a:r>
              <a:rPr lang="en-CA" sz="2400" dirty="0"/>
              <a:t># If you use it people will think you are magic </a:t>
            </a:r>
          </a:p>
          <a:p>
            <a:endParaRPr lang="en-CA" sz="2400" dirty="0"/>
          </a:p>
          <a:p>
            <a:r>
              <a:rPr lang="en-CA" sz="2400" dirty="0"/>
              <a:t># Default standard for R users doing exploratory data analysis </a:t>
            </a:r>
          </a:p>
        </p:txBody>
      </p:sp>
      <p:pic>
        <p:nvPicPr>
          <p:cNvPr id="1026" name="Picture 2" descr="Yihui Xie">
            <a:hlinkClick r:id="rId3" tooltip="https://yihui.org/"/>
            <a:extLst>
              <a:ext uri="{FF2B5EF4-FFF2-40B4-BE49-F238E27FC236}">
                <a16:creationId xmlns:a16="http://schemas.microsoft.com/office/drawing/2014/main" id="{841B9619-EAC5-C045-0005-5430E1873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3174" y="141024"/>
            <a:ext cx="939800" cy="93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117B0B-D144-7E95-0677-D6E594B1AF9B}"/>
              </a:ext>
            </a:extLst>
          </p:cNvPr>
          <p:cNvSpPr txBox="1"/>
          <p:nvPr/>
        </p:nvSpPr>
        <p:spPr>
          <a:xfrm>
            <a:off x="9982200" y="1146916"/>
            <a:ext cx="1877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https://yihui.org/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92598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7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C0B5D-EAB0-7100-8935-6F00C2FFA9A7}"/>
              </a:ext>
            </a:extLst>
          </p:cNvPr>
          <p:cNvSpPr txBox="1"/>
          <p:nvPr/>
        </p:nvSpPr>
        <p:spPr>
          <a:xfrm>
            <a:off x="906133" y="141024"/>
            <a:ext cx="5050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R Markdown – Killer feature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B09318-F5F1-F2E0-EDBD-2F80080CDA97}"/>
              </a:ext>
            </a:extLst>
          </p:cNvPr>
          <p:cNvSpPr txBox="1"/>
          <p:nvPr/>
        </p:nvSpPr>
        <p:spPr>
          <a:xfrm>
            <a:off x="983417" y="989831"/>
            <a:ext cx="39695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 Based on generic Markdown </a:t>
            </a:r>
          </a:p>
          <a:p>
            <a:r>
              <a:rPr lang="en-CA" sz="2400" dirty="0"/>
              <a:t># Very simple document formatting language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87C57B62-B9DB-E7A5-754E-C6D3B80F26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9304" y="819150"/>
            <a:ext cx="7239000" cy="55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38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8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C0B5D-EAB0-7100-8935-6F00C2FFA9A7}"/>
              </a:ext>
            </a:extLst>
          </p:cNvPr>
          <p:cNvSpPr txBox="1"/>
          <p:nvPr/>
        </p:nvSpPr>
        <p:spPr>
          <a:xfrm>
            <a:off x="906133" y="141024"/>
            <a:ext cx="5050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/>
              <a:t>R Markdown – Killer feature</a:t>
            </a:r>
            <a:endParaRPr lang="en-CA" sz="2800" b="1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0D6AF933-1DB9-3122-C94B-B94BC0C2D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732"/>
            <a:ext cx="12145472" cy="660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935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9</a:t>
            </a:fld>
            <a:endParaRPr lang="en-CA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75E8B290-CD5A-CF26-D15C-8DC66F58C8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350" y="139700"/>
            <a:ext cx="7353300" cy="657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689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10</a:t>
            </a:fld>
            <a:endParaRPr lang="en-CA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3ADCF998-2C01-DC8F-432B-ADF21B8BE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988"/>
            <a:ext cx="12432196" cy="672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370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1738B732-4561-358C-35C5-F1B48EAA80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096" b="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7B1038B-87B6-4EEB-B4D7-F992AF662854}" type="slidenum">
              <a:rPr lang="en-CA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CA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59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12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C0B5D-EAB0-7100-8935-6F00C2FFA9A7}"/>
              </a:ext>
            </a:extLst>
          </p:cNvPr>
          <p:cNvSpPr txBox="1"/>
          <p:nvPr/>
        </p:nvSpPr>
        <p:spPr>
          <a:xfrm>
            <a:off x="906133" y="141024"/>
            <a:ext cx="5050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Setup a new Markdown File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B09318-F5F1-F2E0-EDBD-2F80080CDA97}"/>
              </a:ext>
            </a:extLst>
          </p:cNvPr>
          <p:cNvSpPr txBox="1"/>
          <p:nvPr/>
        </p:nvSpPr>
        <p:spPr>
          <a:xfrm>
            <a:off x="1188826" y="874455"/>
            <a:ext cx="10370383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 Importing data set in CSV file named ‘data2’</a:t>
            </a:r>
          </a:p>
          <a:p>
            <a:endParaRPr lang="en-CA" sz="2400" dirty="0"/>
          </a:p>
          <a:p>
            <a:r>
              <a:rPr lang="en-US" sz="2400" i="1" dirty="0">
                <a:solidFill>
                  <a:srgbClr val="7030A0"/>
                </a:solidFill>
              </a:rPr>
              <a:t>data2 &lt;- read.csv(“location of the data/data2.csv", header = TRUE)</a:t>
            </a:r>
          </a:p>
          <a:p>
            <a:endParaRPr lang="en-US" sz="2400" dirty="0"/>
          </a:p>
          <a:p>
            <a:r>
              <a:rPr lang="en-CA" sz="2400" dirty="0"/>
              <a:t># merging data1 and data2</a:t>
            </a:r>
          </a:p>
          <a:p>
            <a:endParaRPr lang="en-CA" sz="2400" dirty="0"/>
          </a:p>
          <a:p>
            <a:r>
              <a:rPr lang="en-CA" sz="2400" i="1" dirty="0">
                <a:solidFill>
                  <a:srgbClr val="7030A0"/>
                </a:solidFill>
              </a:rPr>
              <a:t>data1 &lt;- </a:t>
            </a:r>
            <a:r>
              <a:rPr lang="en-CA" sz="2400" i="1" dirty="0" err="1">
                <a:solidFill>
                  <a:srgbClr val="7030A0"/>
                </a:solidFill>
              </a:rPr>
              <a:t>dplyr</a:t>
            </a:r>
            <a:r>
              <a:rPr lang="en-CA" sz="2400" i="1" dirty="0">
                <a:solidFill>
                  <a:srgbClr val="7030A0"/>
                </a:solidFill>
              </a:rPr>
              <a:t>::select(data1, id, sex, </a:t>
            </a:r>
            <a:r>
              <a:rPr lang="en-CA" sz="2400" i="1" dirty="0" err="1">
                <a:solidFill>
                  <a:srgbClr val="7030A0"/>
                </a:solidFill>
              </a:rPr>
              <a:t>ethgrp</a:t>
            </a:r>
            <a:r>
              <a:rPr lang="en-CA" sz="2400" i="1" dirty="0">
                <a:solidFill>
                  <a:srgbClr val="7030A0"/>
                </a:solidFill>
              </a:rPr>
              <a:t>, weight, age, </a:t>
            </a:r>
            <a:r>
              <a:rPr lang="en-CA" sz="2400" i="1" dirty="0" err="1">
                <a:solidFill>
                  <a:srgbClr val="7030A0"/>
                </a:solidFill>
              </a:rPr>
              <a:t>cvd</a:t>
            </a:r>
            <a:r>
              <a:rPr lang="en-CA" sz="2400" i="1" dirty="0">
                <a:solidFill>
                  <a:srgbClr val="7030A0"/>
                </a:solidFill>
              </a:rPr>
              <a:t>)</a:t>
            </a:r>
          </a:p>
          <a:p>
            <a:r>
              <a:rPr lang="en-CA" sz="2400" i="1" dirty="0">
                <a:solidFill>
                  <a:srgbClr val="7030A0"/>
                </a:solidFill>
              </a:rPr>
              <a:t>data2 &lt;- </a:t>
            </a:r>
            <a:r>
              <a:rPr lang="en-CA" sz="2400" i="1" dirty="0" err="1">
                <a:solidFill>
                  <a:srgbClr val="7030A0"/>
                </a:solidFill>
              </a:rPr>
              <a:t>dplyr</a:t>
            </a:r>
            <a:r>
              <a:rPr lang="en-CA" sz="2400" i="1" dirty="0">
                <a:solidFill>
                  <a:srgbClr val="7030A0"/>
                </a:solidFill>
              </a:rPr>
              <a:t>::select(data2, id, stroke, smoking, Cancer, ldl1, ldl2, gender)</a:t>
            </a:r>
          </a:p>
          <a:p>
            <a:endParaRPr lang="en-CA" sz="2400" dirty="0"/>
          </a:p>
          <a:p>
            <a:r>
              <a:rPr lang="en-CA" sz="2400" dirty="0"/>
              <a:t>### joining/merging data </a:t>
            </a:r>
          </a:p>
          <a:p>
            <a:r>
              <a:rPr lang="en-CA" sz="2400" i="1" dirty="0" err="1">
                <a:solidFill>
                  <a:srgbClr val="7030A0"/>
                </a:solidFill>
              </a:rPr>
              <a:t>data_merge</a:t>
            </a:r>
            <a:r>
              <a:rPr lang="en-CA" sz="2400" i="1" dirty="0">
                <a:solidFill>
                  <a:srgbClr val="7030A0"/>
                </a:solidFill>
              </a:rPr>
              <a:t> &lt;- </a:t>
            </a:r>
            <a:r>
              <a:rPr lang="en-CA" sz="2400" i="1" dirty="0" err="1">
                <a:solidFill>
                  <a:srgbClr val="7030A0"/>
                </a:solidFill>
              </a:rPr>
              <a:t>dplyr</a:t>
            </a:r>
            <a:r>
              <a:rPr lang="en-CA" sz="2400" i="1" dirty="0">
                <a:solidFill>
                  <a:srgbClr val="7030A0"/>
                </a:solidFill>
              </a:rPr>
              <a:t>::</a:t>
            </a:r>
            <a:r>
              <a:rPr lang="en-CA" sz="2400" i="1" dirty="0" err="1">
                <a:solidFill>
                  <a:srgbClr val="7030A0"/>
                </a:solidFill>
              </a:rPr>
              <a:t>full_join</a:t>
            </a:r>
            <a:r>
              <a:rPr lang="en-CA" sz="2400" i="1" dirty="0">
                <a:solidFill>
                  <a:srgbClr val="7030A0"/>
                </a:solidFill>
              </a:rPr>
              <a:t>(data1, data2)</a:t>
            </a:r>
          </a:p>
          <a:p>
            <a:endParaRPr lang="en-CA" sz="2400" i="1" dirty="0">
              <a:solidFill>
                <a:srgbClr val="7030A0"/>
              </a:solidFill>
            </a:endParaRPr>
          </a:p>
          <a:p>
            <a:r>
              <a:rPr lang="en-CA" sz="2400" i="1" dirty="0">
                <a:solidFill>
                  <a:srgbClr val="7030A0"/>
                </a:solidFill>
              </a:rPr>
              <a:t>data_merge1 &lt;- </a:t>
            </a:r>
            <a:r>
              <a:rPr lang="en-CA" sz="2400" i="1" dirty="0" err="1">
                <a:solidFill>
                  <a:srgbClr val="7030A0"/>
                </a:solidFill>
              </a:rPr>
              <a:t>dplyr</a:t>
            </a:r>
            <a:r>
              <a:rPr lang="en-CA" sz="2400" i="1" dirty="0">
                <a:solidFill>
                  <a:srgbClr val="7030A0"/>
                </a:solidFill>
              </a:rPr>
              <a:t>::</a:t>
            </a:r>
            <a:r>
              <a:rPr lang="en-CA" sz="2400" i="1" dirty="0" err="1">
                <a:solidFill>
                  <a:srgbClr val="7030A0"/>
                </a:solidFill>
              </a:rPr>
              <a:t>full_join</a:t>
            </a:r>
            <a:r>
              <a:rPr lang="en-CA" sz="2400" i="1" dirty="0">
                <a:solidFill>
                  <a:srgbClr val="7030A0"/>
                </a:solidFill>
              </a:rPr>
              <a:t>(data1, data2, by = </a:t>
            </a:r>
            <a:r>
              <a:rPr lang="en-CA" sz="2400" i="1" dirty="0" err="1">
                <a:solidFill>
                  <a:srgbClr val="7030A0"/>
                </a:solidFill>
              </a:rPr>
              <a:t>join_by</a:t>
            </a:r>
            <a:r>
              <a:rPr lang="en-CA" sz="2400" i="1" dirty="0">
                <a:solidFill>
                  <a:srgbClr val="7030A0"/>
                </a:solidFill>
              </a:rPr>
              <a:t>(id))</a:t>
            </a:r>
          </a:p>
          <a:p>
            <a:endParaRPr lang="en-CA" sz="2400" dirty="0"/>
          </a:p>
          <a:p>
            <a:r>
              <a:rPr lang="en-CA" sz="2400" i="1" dirty="0">
                <a:solidFill>
                  <a:srgbClr val="7030A0"/>
                </a:solidFill>
              </a:rPr>
              <a:t>data_merge2 &lt;- </a:t>
            </a:r>
            <a:r>
              <a:rPr lang="en-CA" sz="2400" i="1" dirty="0" err="1">
                <a:solidFill>
                  <a:srgbClr val="7030A0"/>
                </a:solidFill>
              </a:rPr>
              <a:t>dplyr</a:t>
            </a:r>
            <a:r>
              <a:rPr lang="en-CA" sz="2400" i="1" dirty="0">
                <a:solidFill>
                  <a:srgbClr val="7030A0"/>
                </a:solidFill>
              </a:rPr>
              <a:t>::</a:t>
            </a:r>
            <a:r>
              <a:rPr lang="en-CA" sz="2400" i="1" dirty="0" err="1">
                <a:solidFill>
                  <a:srgbClr val="7030A0"/>
                </a:solidFill>
              </a:rPr>
              <a:t>full_join</a:t>
            </a:r>
            <a:r>
              <a:rPr lang="en-CA" sz="2400" i="1" dirty="0">
                <a:solidFill>
                  <a:srgbClr val="7030A0"/>
                </a:solidFill>
              </a:rPr>
              <a:t>(data1, data2,by = </a:t>
            </a:r>
            <a:r>
              <a:rPr lang="en-CA" sz="2400" i="1" dirty="0" err="1">
                <a:solidFill>
                  <a:srgbClr val="7030A0"/>
                </a:solidFill>
              </a:rPr>
              <a:t>join_by</a:t>
            </a:r>
            <a:r>
              <a:rPr lang="en-CA" sz="2400" i="1" dirty="0">
                <a:solidFill>
                  <a:srgbClr val="7030A0"/>
                </a:solidFill>
              </a:rPr>
              <a:t>(id == id))</a:t>
            </a:r>
          </a:p>
          <a:p>
            <a:endParaRPr lang="en-CA" sz="1600" dirty="0"/>
          </a:p>
        </p:txBody>
      </p:sp>
    </p:spTree>
    <p:extLst>
      <p:ext uri="{BB962C8B-B14F-4D97-AF65-F5344CB8AC3E}">
        <p14:creationId xmlns:p14="http://schemas.microsoft.com/office/powerpoint/2010/main" val="426895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13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C0B5D-EAB0-7100-8935-6F00C2FFA9A7}"/>
              </a:ext>
            </a:extLst>
          </p:cNvPr>
          <p:cNvSpPr txBox="1"/>
          <p:nvPr/>
        </p:nvSpPr>
        <p:spPr>
          <a:xfrm>
            <a:off x="906133" y="141024"/>
            <a:ext cx="5050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Importing dataset, Data merging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B09318-F5F1-F2E0-EDBD-2F80080CDA97}"/>
              </a:ext>
            </a:extLst>
          </p:cNvPr>
          <p:cNvSpPr txBox="1"/>
          <p:nvPr/>
        </p:nvSpPr>
        <p:spPr>
          <a:xfrm>
            <a:off x="1188826" y="874455"/>
            <a:ext cx="10370383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 Importing data set in CSV file named ‘data2’</a:t>
            </a:r>
          </a:p>
          <a:p>
            <a:endParaRPr lang="en-CA" sz="2400" dirty="0"/>
          </a:p>
          <a:p>
            <a:r>
              <a:rPr lang="en-US" sz="2400" i="1" dirty="0">
                <a:solidFill>
                  <a:srgbClr val="7030A0"/>
                </a:solidFill>
              </a:rPr>
              <a:t>data2 &lt;- read.csv(“location of the data/data2.csv", header = TRUE)</a:t>
            </a:r>
          </a:p>
          <a:p>
            <a:endParaRPr lang="en-US" sz="2400" dirty="0"/>
          </a:p>
          <a:p>
            <a:r>
              <a:rPr lang="en-CA" sz="2400" dirty="0"/>
              <a:t># merging data1 and data2</a:t>
            </a:r>
          </a:p>
          <a:p>
            <a:endParaRPr lang="en-CA" sz="2400" dirty="0"/>
          </a:p>
          <a:p>
            <a:r>
              <a:rPr lang="en-CA" sz="2400" i="1" dirty="0">
                <a:solidFill>
                  <a:srgbClr val="7030A0"/>
                </a:solidFill>
              </a:rPr>
              <a:t>data1 &lt;- </a:t>
            </a:r>
            <a:r>
              <a:rPr lang="en-CA" sz="2400" i="1" dirty="0" err="1">
                <a:solidFill>
                  <a:srgbClr val="7030A0"/>
                </a:solidFill>
              </a:rPr>
              <a:t>dplyr</a:t>
            </a:r>
            <a:r>
              <a:rPr lang="en-CA" sz="2400" i="1" dirty="0">
                <a:solidFill>
                  <a:srgbClr val="7030A0"/>
                </a:solidFill>
              </a:rPr>
              <a:t>::select(data1, id, sex, </a:t>
            </a:r>
            <a:r>
              <a:rPr lang="en-CA" sz="2400" i="1" dirty="0" err="1">
                <a:solidFill>
                  <a:srgbClr val="7030A0"/>
                </a:solidFill>
              </a:rPr>
              <a:t>ethgrp</a:t>
            </a:r>
            <a:r>
              <a:rPr lang="en-CA" sz="2400" i="1" dirty="0">
                <a:solidFill>
                  <a:srgbClr val="7030A0"/>
                </a:solidFill>
              </a:rPr>
              <a:t>, weight, age, </a:t>
            </a:r>
            <a:r>
              <a:rPr lang="en-CA" sz="2400" i="1" dirty="0" err="1">
                <a:solidFill>
                  <a:srgbClr val="7030A0"/>
                </a:solidFill>
              </a:rPr>
              <a:t>cvd</a:t>
            </a:r>
            <a:r>
              <a:rPr lang="en-CA" sz="2400" i="1" dirty="0">
                <a:solidFill>
                  <a:srgbClr val="7030A0"/>
                </a:solidFill>
              </a:rPr>
              <a:t>)</a:t>
            </a:r>
          </a:p>
          <a:p>
            <a:r>
              <a:rPr lang="en-CA" sz="2400" i="1" dirty="0">
                <a:solidFill>
                  <a:srgbClr val="7030A0"/>
                </a:solidFill>
              </a:rPr>
              <a:t>data2 &lt;- </a:t>
            </a:r>
            <a:r>
              <a:rPr lang="en-CA" sz="2400" i="1" dirty="0" err="1">
                <a:solidFill>
                  <a:srgbClr val="7030A0"/>
                </a:solidFill>
              </a:rPr>
              <a:t>dplyr</a:t>
            </a:r>
            <a:r>
              <a:rPr lang="en-CA" sz="2400" i="1" dirty="0">
                <a:solidFill>
                  <a:srgbClr val="7030A0"/>
                </a:solidFill>
              </a:rPr>
              <a:t>::select(data2, id, stroke, smoking, Cancer, ldl1, ldl2, gender)</a:t>
            </a:r>
          </a:p>
          <a:p>
            <a:endParaRPr lang="en-CA" sz="2400" dirty="0"/>
          </a:p>
          <a:p>
            <a:r>
              <a:rPr lang="en-CA" sz="2400" dirty="0"/>
              <a:t>### joining/merging data </a:t>
            </a:r>
          </a:p>
          <a:p>
            <a:r>
              <a:rPr lang="en-CA" sz="2400" i="1" dirty="0" err="1">
                <a:solidFill>
                  <a:srgbClr val="7030A0"/>
                </a:solidFill>
              </a:rPr>
              <a:t>data_merge</a:t>
            </a:r>
            <a:r>
              <a:rPr lang="en-CA" sz="2400" i="1" dirty="0">
                <a:solidFill>
                  <a:srgbClr val="7030A0"/>
                </a:solidFill>
              </a:rPr>
              <a:t> &lt;- </a:t>
            </a:r>
            <a:r>
              <a:rPr lang="en-CA" sz="2400" i="1" dirty="0" err="1">
                <a:solidFill>
                  <a:srgbClr val="7030A0"/>
                </a:solidFill>
              </a:rPr>
              <a:t>dplyr</a:t>
            </a:r>
            <a:r>
              <a:rPr lang="en-CA" sz="2400" i="1" dirty="0">
                <a:solidFill>
                  <a:srgbClr val="7030A0"/>
                </a:solidFill>
              </a:rPr>
              <a:t>::</a:t>
            </a:r>
            <a:r>
              <a:rPr lang="en-CA" sz="2400" i="1" dirty="0" err="1">
                <a:solidFill>
                  <a:srgbClr val="7030A0"/>
                </a:solidFill>
              </a:rPr>
              <a:t>full_join</a:t>
            </a:r>
            <a:r>
              <a:rPr lang="en-CA" sz="2400" i="1" dirty="0">
                <a:solidFill>
                  <a:srgbClr val="7030A0"/>
                </a:solidFill>
              </a:rPr>
              <a:t>(data1, data2)</a:t>
            </a:r>
          </a:p>
          <a:p>
            <a:endParaRPr lang="en-CA" sz="2400" i="1" dirty="0">
              <a:solidFill>
                <a:srgbClr val="7030A0"/>
              </a:solidFill>
            </a:endParaRPr>
          </a:p>
          <a:p>
            <a:r>
              <a:rPr lang="en-CA" sz="2400" i="1" dirty="0">
                <a:solidFill>
                  <a:srgbClr val="7030A0"/>
                </a:solidFill>
              </a:rPr>
              <a:t>data_merge1 &lt;- </a:t>
            </a:r>
            <a:r>
              <a:rPr lang="en-CA" sz="2400" i="1" dirty="0" err="1">
                <a:solidFill>
                  <a:srgbClr val="7030A0"/>
                </a:solidFill>
              </a:rPr>
              <a:t>dplyr</a:t>
            </a:r>
            <a:r>
              <a:rPr lang="en-CA" sz="2400" i="1" dirty="0">
                <a:solidFill>
                  <a:srgbClr val="7030A0"/>
                </a:solidFill>
              </a:rPr>
              <a:t>::</a:t>
            </a:r>
            <a:r>
              <a:rPr lang="en-CA" sz="2400" i="1" dirty="0" err="1">
                <a:solidFill>
                  <a:srgbClr val="7030A0"/>
                </a:solidFill>
              </a:rPr>
              <a:t>full_join</a:t>
            </a:r>
            <a:r>
              <a:rPr lang="en-CA" sz="2400" i="1" dirty="0">
                <a:solidFill>
                  <a:srgbClr val="7030A0"/>
                </a:solidFill>
              </a:rPr>
              <a:t>(data1, data2, by = </a:t>
            </a:r>
            <a:r>
              <a:rPr lang="en-CA" sz="2400" i="1" dirty="0" err="1">
                <a:solidFill>
                  <a:srgbClr val="7030A0"/>
                </a:solidFill>
              </a:rPr>
              <a:t>join_by</a:t>
            </a:r>
            <a:r>
              <a:rPr lang="en-CA" sz="2400" i="1" dirty="0">
                <a:solidFill>
                  <a:srgbClr val="7030A0"/>
                </a:solidFill>
              </a:rPr>
              <a:t>(id))</a:t>
            </a:r>
          </a:p>
          <a:p>
            <a:endParaRPr lang="en-CA" sz="2400" dirty="0"/>
          </a:p>
          <a:p>
            <a:r>
              <a:rPr lang="en-CA" sz="2400" i="1" dirty="0">
                <a:solidFill>
                  <a:srgbClr val="7030A0"/>
                </a:solidFill>
              </a:rPr>
              <a:t>data_merge2 &lt;- </a:t>
            </a:r>
            <a:r>
              <a:rPr lang="en-CA" sz="2400" i="1" dirty="0" err="1">
                <a:solidFill>
                  <a:srgbClr val="7030A0"/>
                </a:solidFill>
              </a:rPr>
              <a:t>dplyr</a:t>
            </a:r>
            <a:r>
              <a:rPr lang="en-CA" sz="2400" i="1" dirty="0">
                <a:solidFill>
                  <a:srgbClr val="7030A0"/>
                </a:solidFill>
              </a:rPr>
              <a:t>::</a:t>
            </a:r>
            <a:r>
              <a:rPr lang="en-CA" sz="2400" i="1" dirty="0" err="1">
                <a:solidFill>
                  <a:srgbClr val="7030A0"/>
                </a:solidFill>
              </a:rPr>
              <a:t>full_join</a:t>
            </a:r>
            <a:r>
              <a:rPr lang="en-CA" sz="2400" i="1" dirty="0">
                <a:solidFill>
                  <a:srgbClr val="7030A0"/>
                </a:solidFill>
              </a:rPr>
              <a:t>(data1, data2,by = </a:t>
            </a:r>
            <a:r>
              <a:rPr lang="en-CA" sz="2400" i="1" dirty="0" err="1">
                <a:solidFill>
                  <a:srgbClr val="7030A0"/>
                </a:solidFill>
              </a:rPr>
              <a:t>join_by</a:t>
            </a:r>
            <a:r>
              <a:rPr lang="en-CA" sz="2400" i="1" dirty="0">
                <a:solidFill>
                  <a:srgbClr val="7030A0"/>
                </a:solidFill>
              </a:rPr>
              <a:t>(id == id))</a:t>
            </a:r>
          </a:p>
          <a:p>
            <a:endParaRPr lang="en-CA" sz="1600" dirty="0"/>
          </a:p>
        </p:txBody>
      </p:sp>
    </p:spTree>
    <p:extLst>
      <p:ext uri="{BB962C8B-B14F-4D97-AF65-F5344CB8AC3E}">
        <p14:creationId xmlns:p14="http://schemas.microsoft.com/office/powerpoint/2010/main" val="3249312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14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955563" y="259189"/>
            <a:ext cx="4832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Importing data named ‘test’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DD796C-1477-45CD-1269-362522F3028F}"/>
              </a:ext>
            </a:extLst>
          </p:cNvPr>
          <p:cNvSpPr txBox="1"/>
          <p:nvPr/>
        </p:nvSpPr>
        <p:spPr>
          <a:xfrm>
            <a:off x="955563" y="1079685"/>
            <a:ext cx="10280873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>
                <a:solidFill>
                  <a:srgbClr val="7030A0"/>
                </a:solidFill>
              </a:rPr>
              <a:t>test &lt;- </a:t>
            </a:r>
            <a:r>
              <a:rPr lang="en-US" sz="2400" i="1" dirty="0" err="1">
                <a:solidFill>
                  <a:srgbClr val="7030A0"/>
                </a:solidFill>
              </a:rPr>
              <a:t>read.csv</a:t>
            </a:r>
            <a:r>
              <a:rPr lang="en-US" sz="2400" i="1" dirty="0">
                <a:solidFill>
                  <a:srgbClr val="7030A0"/>
                </a:solidFill>
              </a:rPr>
              <a:t>("location of the data/</a:t>
            </a:r>
            <a:r>
              <a:rPr lang="en-US" sz="2400" i="1" dirty="0" err="1">
                <a:solidFill>
                  <a:srgbClr val="7030A0"/>
                </a:solidFill>
              </a:rPr>
              <a:t>test.csv</a:t>
            </a:r>
            <a:r>
              <a:rPr lang="en-US" sz="2400" i="1" dirty="0">
                <a:solidFill>
                  <a:srgbClr val="7030A0"/>
                </a:solidFill>
              </a:rPr>
              <a:t>", header = TRUE)</a:t>
            </a:r>
          </a:p>
          <a:p>
            <a:endParaRPr lang="en-US" sz="2400" dirty="0"/>
          </a:p>
          <a:p>
            <a:r>
              <a:rPr lang="en-US" sz="2400" dirty="0"/>
              <a:t>##test</a:t>
            </a:r>
          </a:p>
          <a:p>
            <a:endParaRPr lang="en-US" sz="2400" dirty="0"/>
          </a:p>
          <a:p>
            <a:r>
              <a:rPr lang="en-US" sz="2400" i="1" dirty="0">
                <a:solidFill>
                  <a:srgbClr val="7030A0"/>
                </a:solidFill>
              </a:rPr>
              <a:t>head(test,10)</a:t>
            </a:r>
          </a:p>
          <a:p>
            <a:endParaRPr lang="en-US" sz="2400" i="1" dirty="0">
              <a:solidFill>
                <a:srgbClr val="7030A0"/>
              </a:solidFill>
            </a:endParaRPr>
          </a:p>
          <a:p>
            <a:r>
              <a:rPr lang="en-US" sz="2400" i="1" dirty="0">
                <a:solidFill>
                  <a:srgbClr val="7030A0"/>
                </a:solidFill>
              </a:rPr>
              <a:t>tail(test,10)</a:t>
            </a:r>
          </a:p>
          <a:p>
            <a:endParaRPr lang="en-US" sz="2400" dirty="0"/>
          </a:p>
          <a:p>
            <a:endParaRPr lang="en-CA" dirty="0">
              <a:highlight>
                <a:srgbClr val="FFFF00"/>
              </a:highlight>
            </a:endParaRP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95504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15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830355" y="215044"/>
            <a:ext cx="3213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Summary statistics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DD796C-1477-45CD-1269-362522F3028F}"/>
              </a:ext>
            </a:extLst>
          </p:cNvPr>
          <p:cNvSpPr txBox="1"/>
          <p:nvPr/>
        </p:nvSpPr>
        <p:spPr>
          <a:xfrm>
            <a:off x="1083179" y="873246"/>
            <a:ext cx="774523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 Need package </a:t>
            </a:r>
            <a:r>
              <a:rPr lang="en-CA" sz="2400" dirty="0" err="1"/>
              <a:t>vtable</a:t>
            </a:r>
            <a:r>
              <a:rPr lang="en-CA" sz="2400" dirty="0"/>
              <a:t> to describe summary statistics</a:t>
            </a:r>
          </a:p>
          <a:p>
            <a:r>
              <a:rPr lang="en-CA" sz="2400" dirty="0"/>
              <a:t># if </a:t>
            </a:r>
            <a:r>
              <a:rPr lang="en-CA" sz="2400" dirty="0" err="1"/>
              <a:t>vtable</a:t>
            </a:r>
            <a:r>
              <a:rPr lang="en-CA" sz="2400" dirty="0"/>
              <a:t> is already installed, need to run library only</a:t>
            </a:r>
          </a:p>
          <a:p>
            <a:endParaRPr lang="en-CA" sz="2400" dirty="0"/>
          </a:p>
          <a:p>
            <a:r>
              <a:rPr lang="en-CA" sz="2400" i="1" dirty="0">
                <a:solidFill>
                  <a:srgbClr val="7030A0"/>
                </a:solidFill>
              </a:rPr>
              <a:t>library(</a:t>
            </a:r>
            <a:r>
              <a:rPr lang="en-CA" sz="2400" i="1" dirty="0" err="1">
                <a:solidFill>
                  <a:srgbClr val="7030A0"/>
                </a:solidFill>
              </a:rPr>
              <a:t>vtable</a:t>
            </a:r>
            <a:r>
              <a:rPr lang="en-CA" sz="2400" i="1" dirty="0">
                <a:solidFill>
                  <a:srgbClr val="7030A0"/>
                </a:solidFill>
              </a:rPr>
              <a:t>)</a:t>
            </a:r>
          </a:p>
          <a:p>
            <a:endParaRPr lang="en-CA" sz="2400" i="1" dirty="0">
              <a:solidFill>
                <a:srgbClr val="7030A0"/>
              </a:solidFill>
            </a:endParaRPr>
          </a:p>
          <a:p>
            <a:r>
              <a:rPr lang="en-CA" sz="2400" i="1" dirty="0" err="1">
                <a:solidFill>
                  <a:srgbClr val="7030A0"/>
                </a:solidFill>
              </a:rPr>
              <a:t>st</a:t>
            </a:r>
            <a:r>
              <a:rPr lang="en-CA" sz="2400" i="1" dirty="0">
                <a:solidFill>
                  <a:srgbClr val="7030A0"/>
                </a:solidFill>
              </a:rPr>
              <a:t>(test)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35579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16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C0B5D-EAB0-7100-8935-6F00C2FFA9A7}"/>
              </a:ext>
            </a:extLst>
          </p:cNvPr>
          <p:cNvSpPr txBox="1"/>
          <p:nvPr/>
        </p:nvSpPr>
        <p:spPr>
          <a:xfrm>
            <a:off x="810489" y="99636"/>
            <a:ext cx="7061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Creating categorical variables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30AB69-8F2B-4E10-3A08-A37C7AFCFBFB}"/>
              </a:ext>
            </a:extLst>
          </p:cNvPr>
          <p:cNvSpPr txBox="1"/>
          <p:nvPr/>
        </p:nvSpPr>
        <p:spPr>
          <a:xfrm>
            <a:off x="1134348" y="925451"/>
            <a:ext cx="929314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# to create categorial variable ‘</a:t>
            </a:r>
            <a:r>
              <a:rPr lang="en-US" sz="2400" dirty="0" err="1"/>
              <a:t>agecat</a:t>
            </a:r>
            <a:r>
              <a:rPr lang="en-US" sz="2400" dirty="0"/>
              <a:t>’ using age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summary(</a:t>
            </a:r>
            <a:r>
              <a:rPr lang="en-US" sz="2400" i="1" dirty="0" err="1">
                <a:solidFill>
                  <a:srgbClr val="7030A0"/>
                </a:solidFill>
              </a:rPr>
              <a:t>test$age</a:t>
            </a:r>
            <a:r>
              <a:rPr lang="en-US" sz="2400" i="1" dirty="0">
                <a:solidFill>
                  <a:srgbClr val="7030A0"/>
                </a:solidFill>
              </a:rPr>
              <a:t>)</a:t>
            </a:r>
          </a:p>
          <a:p>
            <a:endParaRPr lang="en-US" sz="2400" i="1" dirty="0">
              <a:solidFill>
                <a:srgbClr val="7030A0"/>
              </a:solidFill>
            </a:endParaRPr>
          </a:p>
          <a:p>
            <a:r>
              <a:rPr lang="en-US" sz="2400" i="1" dirty="0">
                <a:solidFill>
                  <a:srgbClr val="7030A0"/>
                </a:solidFill>
              </a:rPr>
              <a:t>test &lt;- test %&gt;% 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          mutate(</a:t>
            </a:r>
            <a:r>
              <a:rPr lang="en-US" sz="2400" i="1" dirty="0" err="1">
                <a:solidFill>
                  <a:srgbClr val="7030A0"/>
                </a:solidFill>
              </a:rPr>
              <a:t>age_cat</a:t>
            </a:r>
            <a:r>
              <a:rPr lang="en-US" sz="2400" i="1" dirty="0">
                <a:solidFill>
                  <a:srgbClr val="7030A0"/>
                </a:solidFill>
              </a:rPr>
              <a:t> = </a:t>
            </a:r>
            <a:r>
              <a:rPr lang="en-US" sz="2400" i="1" dirty="0" err="1">
                <a:solidFill>
                  <a:srgbClr val="7030A0"/>
                </a:solidFill>
              </a:rPr>
              <a:t>case_when</a:t>
            </a:r>
            <a:r>
              <a:rPr lang="en-US" sz="2400" i="1" dirty="0">
                <a:solidFill>
                  <a:srgbClr val="7030A0"/>
                </a:solidFill>
              </a:rPr>
              <a:t>(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            age &lt; 45 ~ "&lt;45",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            age &gt;= 45 &amp; age &lt; 50 ~ "45-49",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            age &gt;= 50 &amp; age &lt; 59 ~ "50-59",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            age &gt;= 60 &amp; age &lt; 65 ~ "60-64",  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            TRUE ~ "65+"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          ))</a:t>
            </a:r>
          </a:p>
          <a:p>
            <a:endParaRPr lang="en-US" sz="2400" i="1" dirty="0">
              <a:solidFill>
                <a:srgbClr val="7030A0"/>
              </a:solidFill>
            </a:endParaRPr>
          </a:p>
          <a:p>
            <a:r>
              <a:rPr lang="en-US" sz="2400" i="1" dirty="0">
                <a:solidFill>
                  <a:srgbClr val="7030A0"/>
                </a:solidFill>
              </a:rPr>
              <a:t>count(test, </a:t>
            </a:r>
            <a:r>
              <a:rPr lang="en-US" sz="2400" i="1" dirty="0" err="1">
                <a:solidFill>
                  <a:srgbClr val="7030A0"/>
                </a:solidFill>
              </a:rPr>
              <a:t>age_cat</a:t>
            </a:r>
            <a:r>
              <a:rPr lang="en-US" sz="2400" i="1" dirty="0">
                <a:solidFill>
                  <a:srgbClr val="7030A0"/>
                </a:solidFill>
              </a:rPr>
              <a:t>)</a:t>
            </a:r>
          </a:p>
          <a:p>
            <a:endParaRPr lang="en-US" sz="2400" i="1" dirty="0">
              <a:solidFill>
                <a:srgbClr val="7030A0"/>
              </a:solidFill>
            </a:endParaRPr>
          </a:p>
          <a:p>
            <a:r>
              <a:rPr lang="en-US" sz="2400" i="1" dirty="0">
                <a:solidFill>
                  <a:srgbClr val="7030A0"/>
                </a:solidFill>
              </a:rPr>
              <a:t>table(</a:t>
            </a:r>
            <a:r>
              <a:rPr lang="en-US" sz="2400" i="1" dirty="0" err="1">
                <a:solidFill>
                  <a:srgbClr val="7030A0"/>
                </a:solidFill>
              </a:rPr>
              <a:t>test$age</a:t>
            </a:r>
            <a:r>
              <a:rPr lang="en-US" sz="2400" i="1" dirty="0">
                <a:solidFill>
                  <a:srgbClr val="7030A0"/>
                </a:solidFill>
              </a:rPr>
              <a:t>, </a:t>
            </a:r>
            <a:r>
              <a:rPr lang="en-US" sz="2400" i="1" dirty="0" err="1">
                <a:solidFill>
                  <a:srgbClr val="7030A0"/>
                </a:solidFill>
              </a:rPr>
              <a:t>test$age_cat</a:t>
            </a:r>
            <a:r>
              <a:rPr lang="en-US" sz="2400" i="1" dirty="0">
                <a:solidFill>
                  <a:srgbClr val="7030A0"/>
                </a:solidFill>
              </a:rPr>
              <a:t>)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71560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17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1443790" y="201478"/>
            <a:ext cx="2579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Chi-square test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DD796C-1477-45CD-1269-362522F3028F}"/>
              </a:ext>
            </a:extLst>
          </p:cNvPr>
          <p:cNvSpPr txBox="1"/>
          <p:nvPr/>
        </p:nvSpPr>
        <p:spPr>
          <a:xfrm>
            <a:off x="1101226" y="906731"/>
            <a:ext cx="895115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 Check frequency distribution of a categorical variable</a:t>
            </a:r>
          </a:p>
          <a:p>
            <a:r>
              <a:rPr lang="en-CA" sz="2400" dirty="0"/>
              <a:t># Cross tabulation</a:t>
            </a:r>
          </a:p>
          <a:p>
            <a:r>
              <a:rPr lang="en-CA" sz="2400" dirty="0"/>
              <a:t># Chi-square test</a:t>
            </a:r>
          </a:p>
          <a:p>
            <a:endParaRPr lang="en-CA" sz="2400" dirty="0"/>
          </a:p>
          <a:p>
            <a:r>
              <a:rPr lang="en-CA" sz="2400" dirty="0"/>
              <a:t># Check frequency distribution of gender</a:t>
            </a:r>
          </a:p>
          <a:p>
            <a:r>
              <a:rPr lang="en-CA" sz="2400" i="1" dirty="0">
                <a:solidFill>
                  <a:srgbClr val="7030A0"/>
                </a:solidFill>
              </a:rPr>
              <a:t>table(</a:t>
            </a:r>
            <a:r>
              <a:rPr lang="en-CA" sz="2400" i="1" dirty="0" err="1">
                <a:solidFill>
                  <a:srgbClr val="7030A0"/>
                </a:solidFill>
              </a:rPr>
              <a:t>test$gender</a:t>
            </a:r>
            <a:r>
              <a:rPr lang="en-CA" sz="2400" i="1" dirty="0">
                <a:solidFill>
                  <a:srgbClr val="7030A0"/>
                </a:solidFill>
              </a:rPr>
              <a:t>)</a:t>
            </a:r>
          </a:p>
          <a:p>
            <a:endParaRPr lang="en-CA" sz="2400" dirty="0"/>
          </a:p>
          <a:p>
            <a:r>
              <a:rPr lang="en-CA" sz="2400" dirty="0">
                <a:solidFill>
                  <a:schemeClr val="bg1">
                    <a:lumMod val="50000"/>
                  </a:schemeClr>
                </a:solidFill>
              </a:rPr>
              <a:t># Output:</a:t>
            </a:r>
          </a:p>
          <a:p>
            <a:r>
              <a:rPr lang="en-CA" sz="2400" dirty="0">
                <a:solidFill>
                  <a:schemeClr val="bg1">
                    <a:lumMod val="50000"/>
                  </a:schemeClr>
                </a:solidFill>
              </a:rPr>
              <a:t>#   gender</a:t>
            </a:r>
          </a:p>
          <a:p>
            <a:r>
              <a:rPr lang="en-CA" sz="2400" dirty="0">
                <a:solidFill>
                  <a:schemeClr val="bg1">
                    <a:lumMod val="50000"/>
                  </a:schemeClr>
                </a:solidFill>
              </a:rPr>
              <a:t>#   f       m </a:t>
            </a:r>
          </a:p>
          <a:p>
            <a:r>
              <a:rPr lang="en-CA" sz="2400" dirty="0">
                <a:solidFill>
                  <a:schemeClr val="bg1">
                    <a:lumMod val="50000"/>
                  </a:schemeClr>
                </a:solidFill>
              </a:rPr>
              <a:t>#  117  103 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62060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18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996765" y="153351"/>
            <a:ext cx="34067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Chi-square test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DD796C-1477-45CD-1269-362522F3028F}"/>
              </a:ext>
            </a:extLst>
          </p:cNvPr>
          <p:cNvSpPr txBox="1"/>
          <p:nvPr/>
        </p:nvSpPr>
        <p:spPr>
          <a:xfrm>
            <a:off x="1149353" y="876653"/>
            <a:ext cx="609742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 Cross tabulation of gender and stroke</a:t>
            </a:r>
          </a:p>
          <a:p>
            <a:endParaRPr lang="en-CA" sz="2400" dirty="0"/>
          </a:p>
          <a:p>
            <a:r>
              <a:rPr lang="en-US" sz="2400" i="1" dirty="0">
                <a:solidFill>
                  <a:srgbClr val="7030A0"/>
                </a:solidFill>
              </a:rPr>
              <a:t>table(</a:t>
            </a:r>
            <a:r>
              <a:rPr lang="en-US" sz="2400" i="1" dirty="0" err="1">
                <a:solidFill>
                  <a:srgbClr val="7030A0"/>
                </a:solidFill>
              </a:rPr>
              <a:t>test$gender</a:t>
            </a:r>
            <a:r>
              <a:rPr lang="en-US" sz="2400" i="1" dirty="0">
                <a:solidFill>
                  <a:srgbClr val="7030A0"/>
                </a:solidFill>
              </a:rPr>
              <a:t>, </a:t>
            </a:r>
            <a:r>
              <a:rPr lang="en-US" sz="2400" i="1" dirty="0" err="1">
                <a:solidFill>
                  <a:srgbClr val="7030A0"/>
                </a:solidFill>
              </a:rPr>
              <a:t>test$stroke</a:t>
            </a:r>
            <a:r>
              <a:rPr lang="en-US" sz="2400" i="1" dirty="0">
                <a:solidFill>
                  <a:srgbClr val="7030A0"/>
                </a:solidFill>
              </a:rPr>
              <a:t>)</a:t>
            </a:r>
          </a:p>
          <a:p>
            <a:endParaRPr lang="en-CA" sz="2400" dirty="0"/>
          </a:p>
          <a:p>
            <a:r>
              <a:rPr lang="en-CA" sz="2400" dirty="0">
                <a:solidFill>
                  <a:schemeClr val="bg1">
                    <a:lumMod val="50000"/>
                  </a:schemeClr>
                </a:solidFill>
              </a:rPr>
              <a:t># Output</a:t>
            </a:r>
          </a:p>
          <a:p>
            <a:r>
              <a:rPr lang="nl-NL" sz="2400" dirty="0">
                <a:solidFill>
                  <a:schemeClr val="bg1">
                    <a:lumMod val="50000"/>
                  </a:schemeClr>
                </a:solidFill>
              </a:rPr>
              <a:t>#               </a:t>
            </a:r>
            <a:r>
              <a:rPr lang="nl-NL" sz="2400" dirty="0" err="1">
                <a:solidFill>
                  <a:schemeClr val="bg1">
                    <a:lumMod val="50000"/>
                  </a:schemeClr>
                </a:solidFill>
              </a:rPr>
              <a:t>stroke</a:t>
            </a:r>
            <a:endParaRPr lang="nl-NL" sz="2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nl-NL" sz="2400" dirty="0">
                <a:solidFill>
                  <a:schemeClr val="bg1">
                    <a:lumMod val="50000"/>
                  </a:schemeClr>
                </a:solidFill>
              </a:rPr>
              <a:t># gender   0    1</a:t>
            </a:r>
          </a:p>
          <a:p>
            <a:r>
              <a:rPr lang="nl-NL" sz="2400" dirty="0">
                <a:solidFill>
                  <a:schemeClr val="bg1">
                    <a:lumMod val="50000"/>
                  </a:schemeClr>
                </a:solidFill>
              </a:rPr>
              <a:t>#     f         50   67</a:t>
            </a:r>
          </a:p>
          <a:p>
            <a:r>
              <a:rPr lang="nl-NL" sz="2400" dirty="0">
                <a:solidFill>
                  <a:schemeClr val="bg1">
                    <a:lumMod val="50000"/>
                  </a:schemeClr>
                </a:solidFill>
              </a:rPr>
              <a:t>#    m        24  79</a:t>
            </a:r>
            <a:endParaRPr lang="en-CA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1675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19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915410" y="237572"/>
            <a:ext cx="2919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Chi-square test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DD796C-1477-45CD-1269-362522F3028F}"/>
              </a:ext>
            </a:extLst>
          </p:cNvPr>
          <p:cNvSpPr txBox="1"/>
          <p:nvPr/>
        </p:nvSpPr>
        <p:spPr>
          <a:xfrm>
            <a:off x="915410" y="1125910"/>
            <a:ext cx="769519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 Chi-square test between gender and stroke</a:t>
            </a:r>
          </a:p>
          <a:p>
            <a:endParaRPr lang="en-CA" sz="2400" dirty="0"/>
          </a:p>
          <a:p>
            <a:r>
              <a:rPr lang="en-CA" sz="2400" i="1" dirty="0" err="1">
                <a:solidFill>
                  <a:srgbClr val="7030A0"/>
                </a:solidFill>
              </a:rPr>
              <a:t>chisq.test</a:t>
            </a:r>
            <a:r>
              <a:rPr lang="en-CA" sz="2400" i="1" dirty="0">
                <a:solidFill>
                  <a:srgbClr val="7030A0"/>
                </a:solidFill>
              </a:rPr>
              <a:t>(</a:t>
            </a:r>
            <a:r>
              <a:rPr lang="en-CA" sz="2400" i="1" dirty="0" err="1">
                <a:solidFill>
                  <a:srgbClr val="7030A0"/>
                </a:solidFill>
              </a:rPr>
              <a:t>test$gender</a:t>
            </a:r>
            <a:r>
              <a:rPr lang="en-CA" sz="2400" i="1" dirty="0">
                <a:solidFill>
                  <a:srgbClr val="7030A0"/>
                </a:solidFill>
              </a:rPr>
              <a:t>, </a:t>
            </a:r>
            <a:r>
              <a:rPr lang="en-CA" sz="2400" i="1" dirty="0" err="1">
                <a:solidFill>
                  <a:srgbClr val="7030A0"/>
                </a:solidFill>
              </a:rPr>
              <a:t>test$stroke</a:t>
            </a:r>
            <a:r>
              <a:rPr lang="en-CA" sz="2400" i="1" dirty="0">
                <a:solidFill>
                  <a:srgbClr val="7030A0"/>
                </a:solidFill>
              </a:rPr>
              <a:t>)</a:t>
            </a:r>
          </a:p>
          <a:p>
            <a:r>
              <a:rPr lang="en-US" sz="2400" dirty="0"/>
              <a:t> 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# Output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# Pearson's Chi-squared test with Yates' continuity correction</a:t>
            </a:r>
          </a:p>
          <a:p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# data:  gender and stroke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# X-squared = 8.4179,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df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= 1, p-value = 0.003715</a:t>
            </a:r>
            <a:endParaRPr lang="en-CA" sz="2400" dirty="0">
              <a:solidFill>
                <a:schemeClr val="bg1">
                  <a:lumMod val="50000"/>
                </a:schemeClr>
              </a:solidFill>
            </a:endParaRPr>
          </a:p>
          <a:p>
            <a:endParaRPr lang="en-CA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3347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20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1141144" y="231557"/>
            <a:ext cx="3093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Fisher’s exact test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DD796C-1477-45CD-1269-362522F3028F}"/>
              </a:ext>
            </a:extLst>
          </p:cNvPr>
          <p:cNvSpPr txBox="1"/>
          <p:nvPr/>
        </p:nvSpPr>
        <p:spPr>
          <a:xfrm>
            <a:off x="1141144" y="847150"/>
            <a:ext cx="8267551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i="1" dirty="0" err="1">
                <a:solidFill>
                  <a:srgbClr val="7030A0"/>
                </a:solidFill>
              </a:rPr>
              <a:t>fisher.test</a:t>
            </a:r>
            <a:r>
              <a:rPr lang="en-CA" sz="2400" i="1" dirty="0">
                <a:solidFill>
                  <a:srgbClr val="7030A0"/>
                </a:solidFill>
              </a:rPr>
              <a:t>(</a:t>
            </a:r>
            <a:r>
              <a:rPr lang="en-CA" sz="2400" i="1" dirty="0" err="1">
                <a:solidFill>
                  <a:srgbClr val="7030A0"/>
                </a:solidFill>
              </a:rPr>
              <a:t>test$gender</a:t>
            </a:r>
            <a:r>
              <a:rPr lang="en-CA" sz="2400" i="1" dirty="0">
                <a:solidFill>
                  <a:srgbClr val="7030A0"/>
                </a:solidFill>
              </a:rPr>
              <a:t>, </a:t>
            </a:r>
            <a:r>
              <a:rPr lang="en-CA" sz="2400" i="1" dirty="0" err="1">
                <a:solidFill>
                  <a:srgbClr val="7030A0"/>
                </a:solidFill>
              </a:rPr>
              <a:t>test$stroke</a:t>
            </a:r>
            <a:r>
              <a:rPr lang="en-CA" sz="2400" i="1" dirty="0">
                <a:solidFill>
                  <a:srgbClr val="7030A0"/>
                </a:solidFill>
              </a:rPr>
              <a:t>)</a:t>
            </a:r>
          </a:p>
          <a:p>
            <a:r>
              <a:rPr lang="en-US" sz="2400" dirty="0"/>
              <a:t> 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# Output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# Fisher's Exact Test for Count Data</a:t>
            </a:r>
          </a:p>
          <a:p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# data:  gender and stroke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# p-value = 0.002674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# alternative hypothesis: true odds ratio is not equal to 1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# 95 percent confidence interval: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# 1.318319 4.628560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# sample estimates: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# odds ratio 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#  2.446347 </a:t>
            </a:r>
          </a:p>
          <a:p>
            <a:endParaRPr lang="en-CA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6358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21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798243" y="84843"/>
            <a:ext cx="65530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T-test (for two independent samples)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F1C94D-9CA9-E751-234E-FC71FF2609DE}"/>
              </a:ext>
            </a:extLst>
          </p:cNvPr>
          <p:cNvSpPr txBox="1"/>
          <p:nvPr/>
        </p:nvSpPr>
        <p:spPr>
          <a:xfrm>
            <a:off x="798243" y="719832"/>
            <a:ext cx="8898309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 First, we check if data follow Normal distribution</a:t>
            </a:r>
            <a:endParaRPr lang="en-CA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CA" sz="2400" dirty="0"/>
              <a:t># Normality test (if p&gt;0.05: data are normally distributed)</a:t>
            </a:r>
          </a:p>
          <a:p>
            <a:r>
              <a:rPr lang="en-CA" sz="2400" dirty="0"/>
              <a:t># Want to compare mean ages between male and female</a:t>
            </a:r>
          </a:p>
          <a:p>
            <a:endParaRPr lang="en-CA" sz="2400" dirty="0"/>
          </a:p>
          <a:p>
            <a:r>
              <a:rPr lang="en-CA" sz="2400" i="1" dirty="0" err="1">
                <a:solidFill>
                  <a:srgbClr val="7030A0"/>
                </a:solidFill>
              </a:rPr>
              <a:t>test_data_female</a:t>
            </a:r>
            <a:r>
              <a:rPr lang="en-CA" sz="2400" i="1" dirty="0">
                <a:solidFill>
                  <a:srgbClr val="7030A0"/>
                </a:solidFill>
              </a:rPr>
              <a:t> &lt;- filter(test, gender == "f")</a:t>
            </a:r>
          </a:p>
          <a:p>
            <a:r>
              <a:rPr lang="en-CA" sz="2400" i="1" dirty="0" err="1">
                <a:solidFill>
                  <a:srgbClr val="7030A0"/>
                </a:solidFill>
              </a:rPr>
              <a:t>shapiro.test</a:t>
            </a:r>
            <a:r>
              <a:rPr lang="en-CA" sz="2400" i="1" dirty="0">
                <a:solidFill>
                  <a:srgbClr val="7030A0"/>
                </a:solidFill>
              </a:rPr>
              <a:t>(</a:t>
            </a:r>
            <a:r>
              <a:rPr lang="en-CA" sz="2400" i="1" dirty="0" err="1">
                <a:solidFill>
                  <a:srgbClr val="7030A0"/>
                </a:solidFill>
              </a:rPr>
              <a:t>test_data_female$age</a:t>
            </a:r>
            <a:r>
              <a:rPr lang="en-CA" sz="2400" i="1" dirty="0">
                <a:solidFill>
                  <a:srgbClr val="7030A0"/>
                </a:solidFill>
              </a:rPr>
              <a:t>)</a:t>
            </a:r>
          </a:p>
          <a:p>
            <a:endParaRPr lang="en-CA" sz="2400" i="1" dirty="0">
              <a:solidFill>
                <a:srgbClr val="7030A0"/>
              </a:solidFill>
            </a:endParaRPr>
          </a:p>
          <a:p>
            <a:r>
              <a:rPr lang="en-CA" sz="2400" i="1" dirty="0" err="1">
                <a:solidFill>
                  <a:srgbClr val="7030A0"/>
                </a:solidFill>
              </a:rPr>
              <a:t>test_data_male</a:t>
            </a:r>
            <a:r>
              <a:rPr lang="en-CA" sz="2400" i="1" dirty="0">
                <a:solidFill>
                  <a:srgbClr val="7030A0"/>
                </a:solidFill>
              </a:rPr>
              <a:t> &lt;- filter(test, gender == "m")</a:t>
            </a:r>
          </a:p>
          <a:p>
            <a:r>
              <a:rPr lang="en-CA" sz="2400" i="1" dirty="0" err="1">
                <a:solidFill>
                  <a:srgbClr val="7030A0"/>
                </a:solidFill>
              </a:rPr>
              <a:t>shapiro.test</a:t>
            </a:r>
            <a:r>
              <a:rPr lang="en-CA" sz="2400" i="1" dirty="0">
                <a:solidFill>
                  <a:srgbClr val="7030A0"/>
                </a:solidFill>
              </a:rPr>
              <a:t>(</a:t>
            </a:r>
            <a:r>
              <a:rPr lang="en-CA" sz="2400" i="1" dirty="0" err="1">
                <a:solidFill>
                  <a:srgbClr val="7030A0"/>
                </a:solidFill>
              </a:rPr>
              <a:t>test_data_male$age</a:t>
            </a:r>
            <a:r>
              <a:rPr lang="en-CA" sz="2400" i="1" dirty="0">
                <a:solidFill>
                  <a:srgbClr val="7030A0"/>
                </a:solidFill>
              </a:rPr>
              <a:t>)</a:t>
            </a:r>
          </a:p>
          <a:p>
            <a:endParaRPr lang="en-CA" sz="2400" dirty="0"/>
          </a:p>
          <a:p>
            <a:r>
              <a:rPr lang="en-US" sz="2400" dirty="0"/>
              <a:t># Also check </a:t>
            </a:r>
            <a:r>
              <a:rPr lang="en-US" sz="2400" dirty="0" err="1"/>
              <a:t>histogtam</a:t>
            </a:r>
            <a:endParaRPr lang="en-US" sz="2400" dirty="0"/>
          </a:p>
          <a:p>
            <a:r>
              <a:rPr lang="en-US" sz="2400" i="1" dirty="0" err="1">
                <a:solidFill>
                  <a:srgbClr val="7030A0"/>
                </a:solidFill>
              </a:rPr>
              <a:t>hist_age_gender</a:t>
            </a:r>
            <a:r>
              <a:rPr lang="en-US" sz="2400" i="1" dirty="0">
                <a:solidFill>
                  <a:srgbClr val="7030A0"/>
                </a:solidFill>
              </a:rPr>
              <a:t> &lt;- </a:t>
            </a:r>
            <a:r>
              <a:rPr lang="en-US" sz="2400" i="1" dirty="0" err="1">
                <a:solidFill>
                  <a:srgbClr val="7030A0"/>
                </a:solidFill>
              </a:rPr>
              <a:t>ggplot</a:t>
            </a:r>
            <a:r>
              <a:rPr lang="en-US" sz="2400" i="1" dirty="0">
                <a:solidFill>
                  <a:srgbClr val="7030A0"/>
                </a:solidFill>
              </a:rPr>
              <a:t>(test, </a:t>
            </a:r>
            <a:r>
              <a:rPr lang="en-US" sz="2400" i="1" dirty="0" err="1">
                <a:solidFill>
                  <a:srgbClr val="7030A0"/>
                </a:solidFill>
              </a:rPr>
              <a:t>aes</a:t>
            </a:r>
            <a:r>
              <a:rPr lang="en-US" sz="2400" i="1" dirty="0">
                <a:solidFill>
                  <a:srgbClr val="7030A0"/>
                </a:solidFill>
              </a:rPr>
              <a:t>(age)) +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  </a:t>
            </a:r>
            <a:r>
              <a:rPr lang="en-US" sz="2400" i="1" dirty="0" err="1">
                <a:solidFill>
                  <a:srgbClr val="7030A0"/>
                </a:solidFill>
              </a:rPr>
              <a:t>geom_histogram</a:t>
            </a:r>
            <a:r>
              <a:rPr lang="en-US" sz="2400" i="1" dirty="0">
                <a:solidFill>
                  <a:srgbClr val="7030A0"/>
                </a:solidFill>
              </a:rPr>
              <a:t>() + 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  </a:t>
            </a:r>
            <a:r>
              <a:rPr lang="en-US" sz="2400" i="1" dirty="0" err="1">
                <a:solidFill>
                  <a:srgbClr val="7030A0"/>
                </a:solidFill>
              </a:rPr>
              <a:t>facet_wrap</a:t>
            </a:r>
            <a:r>
              <a:rPr lang="en-US" sz="2400" i="1" dirty="0">
                <a:solidFill>
                  <a:srgbClr val="7030A0"/>
                </a:solidFill>
              </a:rPr>
              <a:t>(~ gender)</a:t>
            </a:r>
          </a:p>
          <a:p>
            <a:endParaRPr lang="en-US" sz="2400" i="1" dirty="0">
              <a:solidFill>
                <a:srgbClr val="7030A0"/>
              </a:solidFill>
            </a:endParaRPr>
          </a:p>
          <a:p>
            <a:r>
              <a:rPr lang="en-US" sz="2400" i="1" dirty="0">
                <a:solidFill>
                  <a:srgbClr val="7030A0"/>
                </a:solidFill>
              </a:rPr>
              <a:t>plot(</a:t>
            </a:r>
            <a:r>
              <a:rPr lang="en-US" sz="2400" i="1" dirty="0" err="1">
                <a:solidFill>
                  <a:srgbClr val="7030A0"/>
                </a:solidFill>
              </a:rPr>
              <a:t>hist_age_gender</a:t>
            </a:r>
            <a:r>
              <a:rPr lang="en-US" sz="2400" i="1" dirty="0">
                <a:solidFill>
                  <a:srgbClr val="7030A0"/>
                </a:solidFill>
              </a:rPr>
              <a:t>)</a:t>
            </a:r>
            <a:endParaRPr lang="en-CA" i="1" dirty="0">
              <a:solidFill>
                <a:srgbClr val="7030A0"/>
              </a:solidFill>
            </a:endParaRP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597227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22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870433" y="129289"/>
            <a:ext cx="6727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T-test (for two independent samples)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F1C94D-9CA9-E751-234E-FC71FF2609DE}"/>
              </a:ext>
            </a:extLst>
          </p:cNvPr>
          <p:cNvSpPr txBox="1"/>
          <p:nvPr/>
        </p:nvSpPr>
        <p:spPr>
          <a:xfrm>
            <a:off x="738910" y="884176"/>
            <a:ext cx="1024592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i="1" dirty="0">
                <a:solidFill>
                  <a:srgbClr val="7030A0"/>
                </a:solidFill>
              </a:rPr>
              <a:t>help(</a:t>
            </a:r>
            <a:r>
              <a:rPr lang="en-CA" sz="2400" i="1" dirty="0" err="1">
                <a:solidFill>
                  <a:srgbClr val="7030A0"/>
                </a:solidFill>
              </a:rPr>
              <a:t>t.test</a:t>
            </a:r>
            <a:r>
              <a:rPr lang="en-CA" sz="2400" i="1" dirty="0">
                <a:solidFill>
                  <a:srgbClr val="7030A0"/>
                </a:solidFill>
              </a:rPr>
              <a:t>)</a:t>
            </a:r>
          </a:p>
          <a:p>
            <a:r>
              <a:rPr lang="en-CA" sz="2400" i="1" dirty="0" err="1">
                <a:solidFill>
                  <a:srgbClr val="7030A0"/>
                </a:solidFill>
              </a:rPr>
              <a:t>t.test</a:t>
            </a:r>
            <a:r>
              <a:rPr lang="en-CA" sz="2400" i="1" dirty="0">
                <a:solidFill>
                  <a:srgbClr val="7030A0"/>
                </a:solidFill>
              </a:rPr>
              <a:t>(age ~ gender, data = test)</a:t>
            </a:r>
          </a:p>
          <a:p>
            <a:endParaRPr lang="en-CA" sz="2400" dirty="0"/>
          </a:p>
          <a:p>
            <a:r>
              <a:rPr lang="en-US" sz="2400" dirty="0"/>
              <a:t>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Welch Two Sample t-test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data:  age by gender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 = -1.9624,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df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= 200.25, </a:t>
            </a:r>
            <a:r>
              <a:rPr lang="en-US" sz="2400" dirty="0">
                <a:solidFill>
                  <a:srgbClr val="FF0000"/>
                </a:solidFill>
              </a:rPr>
              <a:t>p-value = 0.05111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alternative hypothesis: true difference in means between group f and group m is not equal to 0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95 percent confidence interval: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-5.26625331  0.01274738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sample estimates: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mean in group f mean in group m 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      51.11111        53.73786 </a:t>
            </a:r>
          </a:p>
          <a:p>
            <a:endParaRPr lang="en-CA" sz="2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CA" sz="2400" dirty="0"/>
              <a:t>#by default, unequal variance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065573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23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870433" y="129289"/>
            <a:ext cx="6721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T-test (for two independent samples)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F1C94D-9CA9-E751-234E-FC71FF2609DE}"/>
              </a:ext>
            </a:extLst>
          </p:cNvPr>
          <p:cNvSpPr txBox="1"/>
          <p:nvPr/>
        </p:nvSpPr>
        <p:spPr>
          <a:xfrm>
            <a:off x="738910" y="884176"/>
            <a:ext cx="1014365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#check variance</a:t>
            </a:r>
          </a:p>
          <a:p>
            <a:r>
              <a:rPr lang="en-CA" sz="2400" i="1" dirty="0" err="1">
                <a:solidFill>
                  <a:srgbClr val="7030A0"/>
                </a:solidFill>
              </a:rPr>
              <a:t>var.test</a:t>
            </a:r>
            <a:r>
              <a:rPr lang="en-CA" sz="2400" i="1" dirty="0">
                <a:solidFill>
                  <a:srgbClr val="7030A0"/>
                </a:solidFill>
              </a:rPr>
              <a:t>(age ~ gender, data = test)</a:t>
            </a:r>
          </a:p>
          <a:p>
            <a:r>
              <a:rPr lang="en-US" sz="2400" dirty="0"/>
              <a:t> 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F test to compare two variances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data:  age by gender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F = 0.70681, num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df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= 116,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denom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df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= 102, </a:t>
            </a:r>
            <a:r>
              <a:rPr lang="en-US" sz="2400" dirty="0">
                <a:solidFill>
                  <a:srgbClr val="FF0000"/>
                </a:solidFill>
              </a:rPr>
              <a:t>p-value = 0.07034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alternative hypothesis: true ratio of variances is not equal to 1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95 percent confidence interval: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0.4830964 1.0293364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sample estimates: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ratio of variances 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        0.7068141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571030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24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870433" y="129289"/>
            <a:ext cx="6871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T-test (for two independent samples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F1C94D-9CA9-E751-234E-FC71FF2609DE}"/>
              </a:ext>
            </a:extLst>
          </p:cNvPr>
          <p:cNvSpPr txBox="1"/>
          <p:nvPr/>
        </p:nvSpPr>
        <p:spPr>
          <a:xfrm>
            <a:off x="991573" y="775891"/>
            <a:ext cx="1026998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 variances are equal based on the test</a:t>
            </a:r>
          </a:p>
          <a:p>
            <a:r>
              <a:rPr lang="en-US" sz="2400" i="1" dirty="0" err="1">
                <a:solidFill>
                  <a:srgbClr val="7030A0"/>
                </a:solidFill>
              </a:rPr>
              <a:t>t.test</a:t>
            </a:r>
            <a:r>
              <a:rPr lang="en-US" sz="2400" i="1" dirty="0">
                <a:solidFill>
                  <a:srgbClr val="7030A0"/>
                </a:solidFill>
              </a:rPr>
              <a:t>(age ~ gender, data = test, </a:t>
            </a:r>
            <a:r>
              <a:rPr lang="en-US" sz="2400" i="1" dirty="0" err="1">
                <a:solidFill>
                  <a:srgbClr val="7030A0"/>
                </a:solidFill>
              </a:rPr>
              <a:t>var.equal</a:t>
            </a:r>
            <a:r>
              <a:rPr lang="en-US" sz="2400" i="1" dirty="0">
                <a:solidFill>
                  <a:srgbClr val="7030A0"/>
                </a:solidFill>
              </a:rPr>
              <a:t> = TRUE)</a:t>
            </a:r>
          </a:p>
          <a:p>
            <a:endParaRPr lang="en-CA" sz="2400" dirty="0"/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Two Sample t-test</a:t>
            </a:r>
          </a:p>
          <a:p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data:  age by gender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 = -1.984,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df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= 218, </a:t>
            </a:r>
            <a:r>
              <a:rPr lang="en-US" sz="2400" dirty="0">
                <a:solidFill>
                  <a:srgbClr val="FF0000"/>
                </a:solidFill>
              </a:rPr>
              <a:t>p-value = 0.04851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alternative hypothesis: true difference in means between group f and group m is not equal to 0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95 percent confidence interval: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-5.23613291 -0.01737302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sample estimates: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mean in group f mean in group m 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      51.11111        53.73786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268183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25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870433" y="129289"/>
            <a:ext cx="90856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Wilcoxon non-parametric test for independent samples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F1C94D-9CA9-E751-234E-FC71FF2609DE}"/>
              </a:ext>
            </a:extLst>
          </p:cNvPr>
          <p:cNvSpPr txBox="1"/>
          <p:nvPr/>
        </p:nvSpPr>
        <p:spPr>
          <a:xfrm>
            <a:off x="738910" y="884176"/>
            <a:ext cx="8898309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#non-parametric test if data are not normally distributed</a:t>
            </a:r>
          </a:p>
          <a:p>
            <a:endParaRPr lang="en-CA" sz="2400" dirty="0"/>
          </a:p>
          <a:p>
            <a:r>
              <a:rPr lang="en-CA" sz="2400" i="1" dirty="0" err="1">
                <a:solidFill>
                  <a:srgbClr val="7030A0"/>
                </a:solidFill>
              </a:rPr>
              <a:t>wilcox.test</a:t>
            </a:r>
            <a:r>
              <a:rPr lang="en-CA" sz="2400" i="1" dirty="0">
                <a:solidFill>
                  <a:srgbClr val="7030A0"/>
                </a:solidFill>
              </a:rPr>
              <a:t>(age ~ gender, data = test)</a:t>
            </a:r>
          </a:p>
          <a:p>
            <a:endParaRPr lang="en-CA" sz="2400" dirty="0"/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Wilcoxon rank sum test with continuity correction</a:t>
            </a:r>
          </a:p>
          <a:p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data:  age by gender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 = 5020, </a:t>
            </a:r>
            <a:r>
              <a:rPr lang="en-US" sz="2400" dirty="0">
                <a:solidFill>
                  <a:srgbClr val="FF0000"/>
                </a:solidFill>
              </a:rPr>
              <a:t>p-value = 0.03246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alternative hypothesis: true location shift is not equal to 0</a:t>
            </a:r>
          </a:p>
          <a:p>
            <a:endParaRPr lang="en-CA" sz="2400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576485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26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870433" y="129289"/>
            <a:ext cx="75095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Paired t-test for two dependent samples test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F1C94D-9CA9-E751-234E-FC71FF2609DE}"/>
              </a:ext>
            </a:extLst>
          </p:cNvPr>
          <p:cNvSpPr txBox="1"/>
          <p:nvPr/>
        </p:nvSpPr>
        <p:spPr>
          <a:xfrm>
            <a:off x="738910" y="884176"/>
            <a:ext cx="1061489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#paired t-test for two dependent samples</a:t>
            </a:r>
          </a:p>
          <a:p>
            <a:endParaRPr lang="en-CA" sz="2400" dirty="0"/>
          </a:p>
          <a:p>
            <a:r>
              <a:rPr lang="en-CA" sz="2400" i="1" dirty="0" err="1">
                <a:solidFill>
                  <a:srgbClr val="7030A0"/>
                </a:solidFill>
              </a:rPr>
              <a:t>t.test</a:t>
            </a:r>
            <a:r>
              <a:rPr lang="en-CA" sz="2400" i="1" dirty="0">
                <a:solidFill>
                  <a:srgbClr val="7030A0"/>
                </a:solidFill>
              </a:rPr>
              <a:t>(test$ldl1, test$ldl2, paired = TRUE)</a:t>
            </a:r>
          </a:p>
          <a:p>
            <a:endParaRPr lang="en-CA" sz="2400" dirty="0"/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Paired t-test</a:t>
            </a:r>
          </a:p>
          <a:p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data:  test$ldl1 and test$ldl2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 = -0.5298,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df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= 219, p-value = </a:t>
            </a:r>
            <a:r>
              <a:rPr lang="en-US" sz="2400" dirty="0">
                <a:solidFill>
                  <a:srgbClr val="FF0000"/>
                </a:solidFill>
              </a:rPr>
              <a:t>0.5968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alternative hypothesis: true mean difference is not equal to 0 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95 percent confidence interval: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-0.3003634  0.1730907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sample estimates: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mean difference 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   -0.06363636 </a:t>
            </a:r>
            <a:endParaRPr lang="en-CA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52254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27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792228" y="109717"/>
            <a:ext cx="5768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Correlation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4BDD5C-DEA6-C3C8-4E28-E396D61F7026}"/>
              </a:ext>
            </a:extLst>
          </p:cNvPr>
          <p:cNvSpPr txBox="1"/>
          <p:nvPr/>
        </p:nvSpPr>
        <p:spPr>
          <a:xfrm>
            <a:off x="930251" y="632937"/>
            <a:ext cx="964027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 Pearson correlation coefficient</a:t>
            </a:r>
          </a:p>
          <a:p>
            <a:endParaRPr lang="en-US" sz="2400" dirty="0"/>
          </a:p>
          <a:p>
            <a:r>
              <a:rPr lang="en-US" sz="2400" i="1" dirty="0" err="1">
                <a:solidFill>
                  <a:srgbClr val="7030A0"/>
                </a:solidFill>
              </a:rPr>
              <a:t>cor.test</a:t>
            </a:r>
            <a:r>
              <a:rPr lang="en-US" sz="2400" i="1" dirty="0">
                <a:solidFill>
                  <a:srgbClr val="7030A0"/>
                </a:solidFill>
              </a:rPr>
              <a:t>(test$ldl1, test$ldl2,  method = "</a:t>
            </a:r>
            <a:r>
              <a:rPr lang="en-US" sz="2400" i="1" dirty="0" err="1">
                <a:solidFill>
                  <a:srgbClr val="7030A0"/>
                </a:solidFill>
              </a:rPr>
              <a:t>pearson</a:t>
            </a:r>
            <a:r>
              <a:rPr lang="en-US" sz="2400" i="1" dirty="0">
                <a:solidFill>
                  <a:srgbClr val="7030A0"/>
                </a:solidFill>
              </a:rPr>
              <a:t>") </a:t>
            </a:r>
          </a:p>
          <a:p>
            <a:endParaRPr lang="en-US" sz="2400" dirty="0"/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Pearson's product-moment correlation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data:  test$ldl1 and test$ldl2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 = 4.1684,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df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= 218, p-value = 4.425e-05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alternative hypothesis: true correlation is not equal to 0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95 percent confidence interval: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0.1446265 0.3899574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sample estimates: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    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cor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0.2717003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470867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28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1122642" y="128721"/>
            <a:ext cx="5768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Correlation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4BDD5C-DEA6-C3C8-4E28-E396D61F7026}"/>
              </a:ext>
            </a:extLst>
          </p:cNvPr>
          <p:cNvSpPr txBox="1"/>
          <p:nvPr/>
        </p:nvSpPr>
        <p:spPr>
          <a:xfrm>
            <a:off x="1031621" y="798357"/>
            <a:ext cx="9820410" cy="4318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#Spearman correlation coefficient</a:t>
            </a:r>
          </a:p>
          <a:p>
            <a:endParaRPr lang="en-CA" sz="2400" dirty="0"/>
          </a:p>
          <a:p>
            <a:r>
              <a:rPr lang="en-US" sz="2400" i="1" dirty="0" err="1">
                <a:solidFill>
                  <a:srgbClr val="7030A0"/>
                </a:solidFill>
              </a:rPr>
              <a:t>cor.test</a:t>
            </a:r>
            <a:r>
              <a:rPr lang="en-US" sz="2400" i="1" dirty="0">
                <a:solidFill>
                  <a:srgbClr val="7030A0"/>
                </a:solidFill>
              </a:rPr>
              <a:t>(test$ldl1, test$ldl2,  method = "</a:t>
            </a:r>
            <a:r>
              <a:rPr lang="en-CA" sz="2400" i="1" dirty="0">
                <a:solidFill>
                  <a:srgbClr val="7030A0"/>
                </a:solidFill>
              </a:rPr>
              <a:t>spearman</a:t>
            </a:r>
            <a:r>
              <a:rPr lang="en-US" sz="2400" i="1" dirty="0">
                <a:solidFill>
                  <a:srgbClr val="7030A0"/>
                </a:solidFill>
              </a:rPr>
              <a:t>") </a:t>
            </a:r>
          </a:p>
          <a:p>
            <a:endParaRPr lang="en-CA" sz="2400" dirty="0"/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Spearman's rank correlation rho</a:t>
            </a:r>
            <a:endParaRPr lang="en-US" sz="2400" kern="1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data:  test$ldl1 and test$ldl2</a:t>
            </a:r>
            <a:endParaRPr lang="en-US" sz="2400" kern="1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S = 1339899, </a:t>
            </a:r>
            <a:r>
              <a:rPr lang="en-US" sz="2400" kern="0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p-value = 0.0002436</a:t>
            </a:r>
            <a:endParaRPr lang="en-US" sz="2400" kern="100" dirty="0">
              <a:solidFill>
                <a:srgbClr val="FF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alternative hypothesis: true rho is not equal to 0</a:t>
            </a:r>
            <a:endParaRPr lang="en-US" sz="2400" kern="1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sample estimates:</a:t>
            </a:r>
            <a:endParaRPr lang="en-US" sz="2400" kern="1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      rho </a:t>
            </a:r>
            <a:endParaRPr lang="en-US" sz="2400" kern="1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0.2449701</a:t>
            </a:r>
            <a:r>
              <a:rPr lang="en-US" sz="2400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975845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29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786212" y="51083"/>
            <a:ext cx="2862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/>
              <a:t>Linear Regression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C1DB49-9AD3-26C1-A663-474D0979490F}"/>
              </a:ext>
            </a:extLst>
          </p:cNvPr>
          <p:cNvSpPr txBox="1"/>
          <p:nvPr/>
        </p:nvSpPr>
        <p:spPr>
          <a:xfrm>
            <a:off x="401655" y="630736"/>
            <a:ext cx="9579836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A" dirty="0"/>
          </a:p>
          <a:p>
            <a:r>
              <a:rPr lang="en-CA" sz="2400" dirty="0"/>
              <a:t># Conduct linear regression model between dependent and independent variables</a:t>
            </a:r>
          </a:p>
          <a:p>
            <a:r>
              <a:rPr lang="en-CA" sz="2400" dirty="0"/>
              <a:t># age is continuous, gender is categorical, </a:t>
            </a:r>
            <a:r>
              <a:rPr lang="en-CA" sz="2400" dirty="0" err="1"/>
              <a:t>ldl</a:t>
            </a:r>
            <a:r>
              <a:rPr lang="en-CA" sz="2400" dirty="0"/>
              <a:t> is continuous variable</a:t>
            </a:r>
          </a:p>
          <a:p>
            <a:endParaRPr lang="en-CA" sz="2400" dirty="0"/>
          </a:p>
          <a:p>
            <a:r>
              <a:rPr lang="en-CA" sz="2400" i="1" dirty="0" err="1">
                <a:solidFill>
                  <a:srgbClr val="7030A0"/>
                </a:solidFill>
              </a:rPr>
              <a:t>linear_model</a:t>
            </a:r>
            <a:r>
              <a:rPr lang="en-CA" sz="2400" i="1" dirty="0">
                <a:solidFill>
                  <a:srgbClr val="7030A0"/>
                </a:solidFill>
              </a:rPr>
              <a:t> &lt;- </a:t>
            </a:r>
            <a:r>
              <a:rPr lang="en-CA" sz="2400" i="1" dirty="0" err="1">
                <a:solidFill>
                  <a:srgbClr val="7030A0"/>
                </a:solidFill>
              </a:rPr>
              <a:t>lm</a:t>
            </a:r>
            <a:r>
              <a:rPr lang="en-CA" sz="2400" i="1" dirty="0">
                <a:solidFill>
                  <a:srgbClr val="7030A0"/>
                </a:solidFill>
              </a:rPr>
              <a:t>(age ~ </a:t>
            </a:r>
            <a:r>
              <a:rPr lang="en-CA" sz="2400" i="1" dirty="0" err="1">
                <a:solidFill>
                  <a:srgbClr val="7030A0"/>
                </a:solidFill>
              </a:rPr>
              <a:t>as.factor</a:t>
            </a:r>
            <a:r>
              <a:rPr lang="en-CA" sz="2400" i="1" dirty="0">
                <a:solidFill>
                  <a:srgbClr val="7030A0"/>
                </a:solidFill>
              </a:rPr>
              <a:t>(gender) + ldl1, data = test)</a:t>
            </a:r>
          </a:p>
          <a:p>
            <a:endParaRPr lang="en-CA" sz="2400" i="1" dirty="0">
              <a:solidFill>
                <a:srgbClr val="7030A0"/>
              </a:solidFill>
            </a:endParaRPr>
          </a:p>
          <a:p>
            <a:r>
              <a:rPr lang="en-CA" sz="2400" i="1" dirty="0">
                <a:solidFill>
                  <a:srgbClr val="7030A0"/>
                </a:solidFill>
              </a:rPr>
              <a:t>summary(</a:t>
            </a:r>
            <a:r>
              <a:rPr lang="en-CA" sz="2400" i="1" dirty="0" err="1">
                <a:solidFill>
                  <a:srgbClr val="7030A0"/>
                </a:solidFill>
              </a:rPr>
              <a:t>linear_model</a:t>
            </a:r>
            <a:r>
              <a:rPr lang="en-CA" sz="2400" i="1" dirty="0">
                <a:solidFill>
                  <a:srgbClr val="7030A0"/>
                </a:solidFill>
              </a:rPr>
              <a:t>) ### Old School Way</a:t>
            </a:r>
          </a:p>
          <a:p>
            <a:endParaRPr lang="en-CA" sz="2400" dirty="0"/>
          </a:p>
          <a:p>
            <a:r>
              <a:rPr lang="en-CA" sz="2400" i="1" dirty="0" err="1">
                <a:solidFill>
                  <a:srgbClr val="7030A0"/>
                </a:solidFill>
              </a:rPr>
              <a:t>install.packages</a:t>
            </a:r>
            <a:r>
              <a:rPr lang="en-CA" sz="2400" i="1" dirty="0">
                <a:solidFill>
                  <a:srgbClr val="7030A0"/>
                </a:solidFill>
              </a:rPr>
              <a:t>("</a:t>
            </a:r>
            <a:r>
              <a:rPr lang="en-CA" sz="2400" i="1" dirty="0" err="1">
                <a:solidFill>
                  <a:srgbClr val="7030A0"/>
                </a:solidFill>
              </a:rPr>
              <a:t>gtsummary</a:t>
            </a:r>
            <a:r>
              <a:rPr lang="en-CA" sz="2400" i="1" dirty="0">
                <a:solidFill>
                  <a:srgbClr val="7030A0"/>
                </a:solidFill>
              </a:rPr>
              <a:t>")</a:t>
            </a:r>
          </a:p>
          <a:p>
            <a:r>
              <a:rPr lang="en-CA" sz="2400" i="1" dirty="0">
                <a:solidFill>
                  <a:srgbClr val="7030A0"/>
                </a:solidFill>
              </a:rPr>
              <a:t>library(</a:t>
            </a:r>
            <a:r>
              <a:rPr lang="en-CA" sz="2400" i="1" dirty="0" err="1">
                <a:solidFill>
                  <a:srgbClr val="7030A0"/>
                </a:solidFill>
              </a:rPr>
              <a:t>gtsummary</a:t>
            </a:r>
            <a:r>
              <a:rPr lang="en-CA" sz="2400" i="1" dirty="0">
                <a:solidFill>
                  <a:srgbClr val="7030A0"/>
                </a:solidFill>
              </a:rPr>
              <a:t>)</a:t>
            </a:r>
          </a:p>
          <a:p>
            <a:endParaRPr lang="en-CA" sz="2400" i="1" dirty="0">
              <a:solidFill>
                <a:srgbClr val="7030A0"/>
              </a:solidFill>
            </a:endParaRPr>
          </a:p>
          <a:p>
            <a:r>
              <a:rPr lang="en-CA" sz="2400" i="1" dirty="0" err="1">
                <a:solidFill>
                  <a:srgbClr val="7030A0"/>
                </a:solidFill>
              </a:rPr>
              <a:t>tbl_regression</a:t>
            </a:r>
            <a:r>
              <a:rPr lang="en-CA" sz="2400" i="1" dirty="0">
                <a:solidFill>
                  <a:srgbClr val="7030A0"/>
                </a:solidFill>
              </a:rPr>
              <a:t>(</a:t>
            </a:r>
            <a:r>
              <a:rPr lang="en-CA" sz="2400" i="1" dirty="0" err="1">
                <a:solidFill>
                  <a:srgbClr val="7030A0"/>
                </a:solidFill>
              </a:rPr>
              <a:t>linear_model</a:t>
            </a:r>
            <a:r>
              <a:rPr lang="en-CA" sz="2400" i="1" dirty="0">
                <a:solidFill>
                  <a:srgbClr val="7030A0"/>
                </a:solidFill>
              </a:rPr>
              <a:t>)</a:t>
            </a:r>
          </a:p>
          <a:p>
            <a:endParaRPr lang="en-CA" sz="2400" i="1" dirty="0">
              <a:solidFill>
                <a:srgbClr val="7030A0"/>
              </a:solidFill>
            </a:endParaRPr>
          </a:p>
          <a:p>
            <a:endParaRPr lang="en-CA" sz="2400" dirty="0"/>
          </a:p>
          <a:p>
            <a:endParaRPr lang="en-CA" sz="1400" dirty="0"/>
          </a:p>
          <a:p>
            <a:endParaRPr lang="en-CA" sz="14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A96BDA2-9A3A-3FBA-4076-68214FC74F4B}"/>
              </a:ext>
            </a:extLst>
          </p:cNvPr>
          <p:cNvCxnSpPr/>
          <p:nvPr/>
        </p:nvCxnSpPr>
        <p:spPr>
          <a:xfrm flipV="1">
            <a:off x="5665861" y="759114"/>
            <a:ext cx="0" cy="21364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94755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30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786212" y="51083"/>
            <a:ext cx="4286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Logistic regression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E6C4D-B376-294F-38E7-934F5A705D7D}"/>
              </a:ext>
            </a:extLst>
          </p:cNvPr>
          <p:cNvSpPr txBox="1"/>
          <p:nvPr/>
        </p:nvSpPr>
        <p:spPr>
          <a:xfrm>
            <a:off x="402363" y="905232"/>
            <a:ext cx="1147489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i="1" dirty="0" err="1">
                <a:solidFill>
                  <a:srgbClr val="7030A0"/>
                </a:solidFill>
              </a:rPr>
              <a:t>logistic_model</a:t>
            </a:r>
            <a:r>
              <a:rPr lang="en-CA" sz="2400" i="1" dirty="0">
                <a:solidFill>
                  <a:srgbClr val="7030A0"/>
                </a:solidFill>
              </a:rPr>
              <a:t> &lt;- </a:t>
            </a:r>
            <a:r>
              <a:rPr lang="en-CA" sz="2400" i="1" dirty="0" err="1">
                <a:solidFill>
                  <a:srgbClr val="7030A0"/>
                </a:solidFill>
              </a:rPr>
              <a:t>glm</a:t>
            </a:r>
            <a:r>
              <a:rPr lang="en-CA" sz="2400" i="1" dirty="0">
                <a:solidFill>
                  <a:srgbClr val="7030A0"/>
                </a:solidFill>
              </a:rPr>
              <a:t>(Cancer ~ </a:t>
            </a:r>
            <a:r>
              <a:rPr lang="en-CA" sz="2400" i="1" dirty="0" err="1">
                <a:solidFill>
                  <a:srgbClr val="7030A0"/>
                </a:solidFill>
              </a:rPr>
              <a:t>as.factor</a:t>
            </a:r>
            <a:r>
              <a:rPr lang="en-CA" sz="2400" i="1" dirty="0">
                <a:solidFill>
                  <a:srgbClr val="7030A0"/>
                </a:solidFill>
              </a:rPr>
              <a:t>(gender) + ldl1 + smoking, data = test, family = "binomial")</a:t>
            </a:r>
          </a:p>
          <a:p>
            <a:endParaRPr lang="en-CA" sz="2400" i="1" dirty="0">
              <a:solidFill>
                <a:srgbClr val="7030A0"/>
              </a:solidFill>
            </a:endParaRPr>
          </a:p>
          <a:p>
            <a:r>
              <a:rPr lang="en-CA" sz="2400" i="1" dirty="0">
                <a:solidFill>
                  <a:srgbClr val="7030A0"/>
                </a:solidFill>
              </a:rPr>
              <a:t>summary(</a:t>
            </a:r>
            <a:r>
              <a:rPr lang="en-CA" sz="2400" i="1" dirty="0" err="1">
                <a:solidFill>
                  <a:srgbClr val="7030A0"/>
                </a:solidFill>
              </a:rPr>
              <a:t>logistic_model</a:t>
            </a:r>
            <a:r>
              <a:rPr lang="en-CA" sz="2400" i="1" dirty="0">
                <a:solidFill>
                  <a:srgbClr val="7030A0"/>
                </a:solidFill>
              </a:rPr>
              <a:t>)</a:t>
            </a:r>
          </a:p>
          <a:p>
            <a:endParaRPr lang="en-CA" sz="2400" dirty="0"/>
          </a:p>
          <a:p>
            <a:r>
              <a:rPr lang="en-CA" sz="2400" dirty="0"/>
              <a:t>## odds ratios and 95% CI (Old School Way)</a:t>
            </a:r>
          </a:p>
          <a:p>
            <a:r>
              <a:rPr lang="en-CA" sz="2400" i="1" dirty="0">
                <a:solidFill>
                  <a:srgbClr val="7030A0"/>
                </a:solidFill>
              </a:rPr>
              <a:t>exp(</a:t>
            </a:r>
            <a:r>
              <a:rPr lang="en-CA" sz="2400" i="1" dirty="0" err="1">
                <a:solidFill>
                  <a:srgbClr val="7030A0"/>
                </a:solidFill>
              </a:rPr>
              <a:t>cbind</a:t>
            </a:r>
            <a:r>
              <a:rPr lang="en-CA" sz="2400" i="1" dirty="0">
                <a:solidFill>
                  <a:srgbClr val="7030A0"/>
                </a:solidFill>
              </a:rPr>
              <a:t>(OR = </a:t>
            </a:r>
            <a:r>
              <a:rPr lang="en-CA" sz="2400" i="1" dirty="0" err="1">
                <a:solidFill>
                  <a:srgbClr val="7030A0"/>
                </a:solidFill>
              </a:rPr>
              <a:t>coef</a:t>
            </a:r>
            <a:r>
              <a:rPr lang="en-CA" sz="2400" i="1" dirty="0">
                <a:solidFill>
                  <a:srgbClr val="7030A0"/>
                </a:solidFill>
              </a:rPr>
              <a:t>(</a:t>
            </a:r>
            <a:r>
              <a:rPr lang="en-CA" sz="2400" i="1" dirty="0" err="1">
                <a:solidFill>
                  <a:srgbClr val="7030A0"/>
                </a:solidFill>
              </a:rPr>
              <a:t>logistic_model</a:t>
            </a:r>
            <a:r>
              <a:rPr lang="en-CA" sz="2400" i="1" dirty="0">
                <a:solidFill>
                  <a:srgbClr val="7030A0"/>
                </a:solidFill>
              </a:rPr>
              <a:t>), </a:t>
            </a:r>
            <a:r>
              <a:rPr lang="en-CA" sz="2400" i="1" dirty="0" err="1">
                <a:solidFill>
                  <a:srgbClr val="7030A0"/>
                </a:solidFill>
              </a:rPr>
              <a:t>confint</a:t>
            </a:r>
            <a:r>
              <a:rPr lang="en-CA" sz="2400" i="1" dirty="0">
                <a:solidFill>
                  <a:srgbClr val="7030A0"/>
                </a:solidFill>
              </a:rPr>
              <a:t>(</a:t>
            </a:r>
            <a:r>
              <a:rPr lang="en-CA" sz="2400" i="1" dirty="0" err="1">
                <a:solidFill>
                  <a:srgbClr val="7030A0"/>
                </a:solidFill>
              </a:rPr>
              <a:t>logistic_model</a:t>
            </a:r>
            <a:r>
              <a:rPr lang="en-CA" sz="2400" i="1" dirty="0">
                <a:solidFill>
                  <a:srgbClr val="7030A0"/>
                </a:solidFill>
              </a:rPr>
              <a:t>)))</a:t>
            </a:r>
          </a:p>
          <a:p>
            <a:endParaRPr lang="en-CA" sz="2400" dirty="0"/>
          </a:p>
          <a:p>
            <a:r>
              <a:rPr lang="en-CA" sz="2400" dirty="0"/>
              <a:t>## odds ratios and 95% CI (New School way)</a:t>
            </a:r>
          </a:p>
          <a:p>
            <a:r>
              <a:rPr lang="en-CA" sz="2400" i="1" dirty="0" err="1">
                <a:solidFill>
                  <a:srgbClr val="7030A0"/>
                </a:solidFill>
              </a:rPr>
              <a:t>tbl_regression</a:t>
            </a:r>
            <a:r>
              <a:rPr lang="en-CA" sz="2400" i="1" dirty="0">
                <a:solidFill>
                  <a:srgbClr val="7030A0"/>
                </a:solidFill>
              </a:rPr>
              <a:t>(</a:t>
            </a:r>
            <a:r>
              <a:rPr lang="en-CA" sz="2400" i="1" dirty="0" err="1">
                <a:solidFill>
                  <a:srgbClr val="7030A0"/>
                </a:solidFill>
              </a:rPr>
              <a:t>logistic_model</a:t>
            </a:r>
            <a:r>
              <a:rPr lang="en-CA" sz="2400" i="1" dirty="0">
                <a:solidFill>
                  <a:srgbClr val="7030A0"/>
                </a:solidFill>
              </a:rPr>
              <a:t>, exponentiate = TRUE) </a:t>
            </a:r>
            <a:endParaRPr lang="en-CA" i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4694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31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786212" y="51083"/>
            <a:ext cx="71015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Analysis of variance (ANOVA)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D20228-0DAE-3BB2-5696-A9BB07A96E52}"/>
              </a:ext>
            </a:extLst>
          </p:cNvPr>
          <p:cNvSpPr txBox="1"/>
          <p:nvPr/>
        </p:nvSpPr>
        <p:spPr>
          <a:xfrm>
            <a:off x="605326" y="712941"/>
            <a:ext cx="1034183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 One-way ANOVA</a:t>
            </a:r>
            <a:endParaRPr lang="en-CA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CA" sz="2400" dirty="0"/>
              <a:t># Pass arguments to </a:t>
            </a:r>
            <a:r>
              <a:rPr lang="en-CA" sz="2400" dirty="0" err="1"/>
              <a:t>aov</a:t>
            </a:r>
            <a:r>
              <a:rPr lang="en-CA" sz="2400" dirty="0"/>
              <a:t>() function for an ANOVA test</a:t>
            </a:r>
          </a:p>
          <a:p>
            <a:endParaRPr lang="en-CA" sz="2400" dirty="0"/>
          </a:p>
          <a:p>
            <a:r>
              <a:rPr lang="en-CA" sz="2400" i="1" dirty="0" err="1">
                <a:solidFill>
                  <a:srgbClr val="7030A0"/>
                </a:solidFill>
              </a:rPr>
              <a:t>one.anova</a:t>
            </a:r>
            <a:r>
              <a:rPr lang="en-CA" sz="2400" i="1" dirty="0">
                <a:solidFill>
                  <a:srgbClr val="7030A0"/>
                </a:solidFill>
              </a:rPr>
              <a:t> &lt;- </a:t>
            </a:r>
            <a:r>
              <a:rPr lang="en-CA" sz="2400" i="1" dirty="0" err="1">
                <a:solidFill>
                  <a:srgbClr val="7030A0"/>
                </a:solidFill>
              </a:rPr>
              <a:t>aov</a:t>
            </a:r>
            <a:r>
              <a:rPr lang="en-CA" sz="2400" i="1" dirty="0">
                <a:solidFill>
                  <a:srgbClr val="7030A0"/>
                </a:solidFill>
              </a:rPr>
              <a:t>(age ~ </a:t>
            </a:r>
            <a:r>
              <a:rPr lang="en-CA" sz="2400" i="1" dirty="0" err="1">
                <a:solidFill>
                  <a:srgbClr val="7030A0"/>
                </a:solidFill>
              </a:rPr>
              <a:t>ethgrp</a:t>
            </a:r>
            <a:r>
              <a:rPr lang="en-CA" sz="2400" i="1" dirty="0">
                <a:solidFill>
                  <a:srgbClr val="7030A0"/>
                </a:solidFill>
              </a:rPr>
              <a:t>, data = test)</a:t>
            </a:r>
          </a:p>
          <a:p>
            <a:r>
              <a:rPr lang="en-CA" sz="2400" i="1" dirty="0">
                <a:solidFill>
                  <a:srgbClr val="7030A0"/>
                </a:solidFill>
              </a:rPr>
              <a:t>summary(</a:t>
            </a:r>
            <a:r>
              <a:rPr lang="en-CA" sz="2400" i="1" dirty="0" err="1">
                <a:solidFill>
                  <a:srgbClr val="7030A0"/>
                </a:solidFill>
              </a:rPr>
              <a:t>one.anova</a:t>
            </a:r>
            <a:r>
              <a:rPr lang="en-CA" sz="2400" i="1" dirty="0">
                <a:solidFill>
                  <a:srgbClr val="7030A0"/>
                </a:solidFill>
              </a:rPr>
              <a:t>)</a:t>
            </a:r>
          </a:p>
          <a:p>
            <a:endParaRPr lang="en-CA" sz="2400" dirty="0"/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667990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32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786212" y="51083"/>
            <a:ext cx="71015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Analysis of variance (ANOVA)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D20228-0DAE-3BB2-5696-A9BB07A96E52}"/>
              </a:ext>
            </a:extLst>
          </p:cNvPr>
          <p:cNvSpPr txBox="1"/>
          <p:nvPr/>
        </p:nvSpPr>
        <p:spPr>
          <a:xfrm>
            <a:off x="605326" y="712941"/>
            <a:ext cx="10341837" cy="3678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 Non-parametric ANOVA</a:t>
            </a:r>
            <a:endParaRPr lang="en-CA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CA" sz="2400" dirty="0"/>
          </a:p>
          <a:p>
            <a:r>
              <a:rPr lang="en-CA" sz="2400" i="1" dirty="0" err="1">
                <a:solidFill>
                  <a:srgbClr val="7030A0"/>
                </a:solidFill>
              </a:rPr>
              <a:t>kruskal.test</a:t>
            </a:r>
            <a:r>
              <a:rPr lang="en-CA" sz="2400" i="1" dirty="0">
                <a:solidFill>
                  <a:srgbClr val="7030A0"/>
                </a:solidFill>
              </a:rPr>
              <a:t>(age ~ </a:t>
            </a:r>
            <a:r>
              <a:rPr lang="en-CA" sz="2400" i="1" dirty="0" err="1">
                <a:solidFill>
                  <a:srgbClr val="7030A0"/>
                </a:solidFill>
              </a:rPr>
              <a:t>ethgrp</a:t>
            </a:r>
            <a:r>
              <a:rPr lang="en-CA" sz="2400" i="1" dirty="0">
                <a:solidFill>
                  <a:srgbClr val="7030A0"/>
                </a:solidFill>
              </a:rPr>
              <a:t>, data = test)</a:t>
            </a:r>
          </a:p>
          <a:p>
            <a:endParaRPr lang="en-CA" sz="2400" dirty="0"/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Kruskal-Wallis rank sum test</a:t>
            </a:r>
            <a:endParaRPr lang="en-US" sz="2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2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data:  age by </a:t>
            </a:r>
            <a:r>
              <a:rPr lang="en-US" sz="2400" kern="0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ethgrp</a:t>
            </a:r>
            <a:endParaRPr lang="en-US" sz="2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Kruskal-Wallis chi-squared = 15.426, </a:t>
            </a:r>
            <a:r>
              <a:rPr lang="en-US" sz="2400" kern="0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df</a:t>
            </a:r>
            <a:r>
              <a:rPr lang="en-US" sz="2400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 = 2, </a:t>
            </a:r>
            <a:r>
              <a:rPr lang="en-US" sz="2400" kern="0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p-value = 0.000447</a:t>
            </a:r>
            <a:endParaRPr lang="en-CA" sz="2400" dirty="0">
              <a:solidFill>
                <a:srgbClr val="FF0000"/>
              </a:solidFill>
            </a:endParaRP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683665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33</a:t>
            </a:fld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D20228-0DAE-3BB2-5696-A9BB07A96E52}"/>
              </a:ext>
            </a:extLst>
          </p:cNvPr>
          <p:cNvSpPr txBox="1"/>
          <p:nvPr/>
        </p:nvSpPr>
        <p:spPr>
          <a:xfrm>
            <a:off x="2749715" y="1491915"/>
            <a:ext cx="5504161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dirty="0"/>
              <a:t>Acknowledgment</a:t>
            </a:r>
          </a:p>
          <a:p>
            <a:r>
              <a:rPr lang="en-CA" sz="2800" dirty="0"/>
              <a:t>Jiwon Yoon </a:t>
            </a:r>
          </a:p>
          <a:p>
            <a:r>
              <a:rPr lang="en-CA" sz="2800" dirty="0" err="1"/>
              <a:t>Prosanta</a:t>
            </a:r>
            <a:r>
              <a:rPr lang="en-CA" sz="2800" dirty="0"/>
              <a:t> Mondal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22410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1576</TotalTime>
  <Words>1821</Words>
  <Application>Microsoft Macintosh PowerPoint</Application>
  <PresentationFormat>Widescreen</PresentationFormat>
  <Paragraphs>341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Yoon, Jiwon</dc:creator>
  <cp:lastModifiedBy>Fuller, Daniel</cp:lastModifiedBy>
  <cp:revision>413</cp:revision>
  <cp:lastPrinted>2023-11-20T18:22:34Z</cp:lastPrinted>
  <dcterms:created xsi:type="dcterms:W3CDTF">2023-08-04T15:09:10Z</dcterms:created>
  <dcterms:modified xsi:type="dcterms:W3CDTF">2023-11-23T14:55:44Z</dcterms:modified>
</cp:coreProperties>
</file>