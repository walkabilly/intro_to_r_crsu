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96" r:id="rId11"/>
    <p:sldId id="295" r:id="rId12"/>
    <p:sldId id="269" r:id="rId13"/>
    <p:sldId id="273" r:id="rId14"/>
    <p:sldId id="268" r:id="rId15"/>
    <p:sldId id="277" r:id="rId16"/>
    <p:sldId id="280" r:id="rId17"/>
    <p:sldId id="271" r:id="rId18"/>
    <p:sldId id="291" r:id="rId19"/>
    <p:sldId id="278" r:id="rId20"/>
    <p:sldId id="266" r:id="rId21"/>
    <p:sldId id="294" r:id="rId22"/>
    <p:sldId id="297" r:id="rId23"/>
    <p:sldId id="292" r:id="rId2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683A2F7-CC42-4130-AC97-95EFFD121DDF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367CFDC-501E-4837-B61F-87CE793250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6291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33436-3D70-7429-1FFC-6988A2D1D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9C163-4D35-55CB-2728-4B7F5DB95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28191-8C1F-FB40-A4FB-E399C47B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99DE-0076-407C-B669-04401D93B674}" type="datetime1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4A7A3-7A53-CE44-C66A-26D93D94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569BC-AC40-E2C8-0868-146C1D09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44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BFB6-D11D-BF95-A087-1E66A1B4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73446-8CC4-1B2E-F1FA-3141D8C75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C9DC4-D0B7-7350-8411-BDF16578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458ED-C06D-4FB3-B18A-4DD528848469}" type="datetime1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6808-96ED-53CD-8A52-B8D9974D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34DD8-A0B7-794D-2957-051BD562C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084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AED1-CE47-D5B7-A62D-CBC1ECF8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183D1-40C7-231B-A80C-8221CC03B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7DE6F-E969-CBFA-D5FD-88149298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BE36-7D1C-428D-88D2-95C5246F1139}" type="datetime1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52662-2358-E320-B60C-6771368F4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4817C-C7CD-177A-3CBD-8C1C3A01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6772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A6D2A-AE24-D83F-88D8-34B90D6CC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C021F-2B2A-38EE-6866-C78B74F0A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61AC6-8A6C-0F87-8080-0215B7E9B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DE3ED-29E0-12CD-F97B-894CE9B3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011A-9810-4C9C-B28A-B7A6AAC0B235}" type="datetime1">
              <a:rPr lang="en-CA" smtClean="0"/>
              <a:t>2025-11-03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50D56-3D01-E3E5-CA77-E7B390E79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14070-9F00-8E84-F167-490246139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2963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B210-84C8-80BB-26B1-C5A4CEBBA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70BA7-5323-0636-7EAC-4425DFE59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5C29E-ED0C-B2A2-0660-200362CE5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FD1EC-0C5F-045F-697D-AE47C626D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4A046-BEF7-B608-4C19-BE12DB16A9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94A658-92FD-1ED4-0BCD-80BB98305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010D-F1C7-4A23-95FA-55F05584DF34}" type="datetime1">
              <a:rPr lang="en-CA" smtClean="0"/>
              <a:t>2025-11-03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47786-D546-D457-1717-005FEFCF8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AD6BF-FABE-24DA-5E66-BF0834A8C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02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A3ED-3DC1-8B95-0272-67BDA498B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583749-F74F-25C4-3346-24D66E2A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39B59-98B7-42D9-AFEE-14D411845555}" type="datetime1">
              <a:rPr lang="en-CA" smtClean="0"/>
              <a:t>2025-11-03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E3685-6346-FF67-B1A7-EE2E41D01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74393-52F9-6367-F3B9-1848FE30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680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05A42A-F571-ADC5-256A-23252F7F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659C5-0D91-4D00-B8C0-AE5B10BE2B93}" type="datetime1">
              <a:rPr lang="en-CA" smtClean="0"/>
              <a:t>2025-11-03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26329-D3B1-8287-51CA-AD6B3CE1F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BD4A0-5FFA-525E-B6E8-53CAC3DA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7B1038B-87B6-4EEB-B4D7-F992AF662854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B290A5E-A07F-BC1D-5A4A-3EDF40E86A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14" y="6356350"/>
            <a:ext cx="870573" cy="40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843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03C9-3297-C022-3B3D-B8195F65A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8ADA6-BAAA-5965-989A-614F52A30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CA950-9A56-7F66-9550-CAF15DDC3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49F21-8823-2877-A31F-ACC9BA00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32C2-C922-41FF-B181-40A4CC886B35}" type="datetime1">
              <a:rPr lang="en-CA" smtClean="0"/>
              <a:t>2025-11-03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F229A-3222-05B9-8DE7-236EB08D7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EF570-6A93-FA4A-1B57-3E84555A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516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5CC4-4BC9-FD1C-AB90-05538752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C5568E-373E-9604-6F31-4638E69C01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6B322-2287-F234-2597-7B9EDDFBE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B316D-6144-E9F6-F920-4611F044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F1051-1485-4EC3-88EC-CC0992768502}" type="datetime1">
              <a:rPr lang="en-CA" smtClean="0"/>
              <a:t>2025-11-03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BA184-E8C2-5242-063F-ED72C834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75A2A-A1CB-4141-8C98-16CCE5E8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26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C906-7BC5-3D80-3262-F2BD4F370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1882C-7AD0-3A77-D7D9-8886F15EA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2D01C-C1F7-B7F3-7AA8-CB97E499E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3EE1-3EA4-4860-A8F6-31D32E6F2ABD}" type="datetime1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66125-0A19-7214-F887-B505B4B25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8E7C3-011D-C7E9-8194-BEAC559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852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C65671-7C64-C048-C71C-371EDDF41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58946-D7EF-1707-A71D-19852D7E5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258F2-79DD-0B86-71E5-EDCC99187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025D-3273-4856-993F-6CCA5AD27D5E}" type="datetime1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B6D84-FE4C-BEBC-EDD6-CD3CA79D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4A08D-F882-ECAA-8575-3CCE48BF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9956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06816A-7BD5-704C-45E4-90D345625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6DD37-C066-A690-A4CD-E73853E5A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73A32-9751-498B-6B28-33E56D976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4659F-95E2-472B-9FC7-68FC0420B5F1}" type="datetime1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DF91E-B788-C047-EB34-023E8AC0B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49420-3123-260B-3EF0-DC6B3960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3917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web/packages/available_packages_by_name.html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-bloggers.com/2018/09/r-code-best-practices/" TargetMode="External"/><Relationship Id="rId2" Type="http://schemas.openxmlformats.org/officeDocument/2006/relationships/hyperlink" Target="https://google.github.io/styleguide/Rguide.html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6339E5-F3E5-5E2D-A4BA-19E6BFB6304D}"/>
              </a:ext>
            </a:extLst>
          </p:cNvPr>
          <p:cNvSpPr txBox="1"/>
          <p:nvPr/>
        </p:nvSpPr>
        <p:spPr>
          <a:xfrm>
            <a:off x="442244" y="2203485"/>
            <a:ext cx="684731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8800" dirty="0">
                <a:solidFill>
                  <a:srgbClr val="404040"/>
                </a:solidFill>
              </a:rPr>
              <a:t>R</a:t>
            </a:r>
            <a:r>
              <a:rPr lang="en-CA" sz="6600" dirty="0"/>
              <a:t> for data analysis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15EBC-514A-4C16-5AB7-69CD5F7E8281}"/>
              </a:ext>
            </a:extLst>
          </p:cNvPr>
          <p:cNvCxnSpPr>
            <a:cxnSpLocks/>
          </p:cNvCxnSpPr>
          <p:nvPr/>
        </p:nvCxnSpPr>
        <p:spPr>
          <a:xfrm>
            <a:off x="648770" y="5181062"/>
            <a:ext cx="45549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34B51B2-F386-4706-700C-462699F3EA34}"/>
              </a:ext>
            </a:extLst>
          </p:cNvPr>
          <p:cNvSpPr txBox="1"/>
          <p:nvPr/>
        </p:nvSpPr>
        <p:spPr>
          <a:xfrm>
            <a:off x="620995" y="5300704"/>
            <a:ext cx="45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Clinical Research Support Unit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A48BF6-C3B9-E882-8BA5-635A5BB5B2C8}"/>
              </a:ext>
            </a:extLst>
          </p:cNvPr>
          <p:cNvGrpSpPr/>
          <p:nvPr/>
        </p:nvGrpSpPr>
        <p:grpSpPr>
          <a:xfrm>
            <a:off x="7699760" y="522446"/>
            <a:ext cx="4404646" cy="5378422"/>
            <a:chOff x="7469024" y="596473"/>
            <a:chExt cx="4404646" cy="5378422"/>
          </a:xfrm>
        </p:grpSpPr>
        <p:pic>
          <p:nvPicPr>
            <p:cNvPr id="12" name="Graphic 11" descr="Laptop with phone and calculator">
              <a:extLst>
                <a:ext uri="{FF2B5EF4-FFF2-40B4-BE49-F238E27FC236}">
                  <a16:creationId xmlns:a16="http://schemas.microsoft.com/office/drawing/2014/main" id="{DF886F85-BBE8-5556-E6B3-A6EE820E87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26116"/>
            <a:stretch/>
          </p:blipFill>
          <p:spPr>
            <a:xfrm>
              <a:off x="7469024" y="596473"/>
              <a:ext cx="3973794" cy="5378422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47E397-BF1B-5A7C-A5B4-8A41E663394A}"/>
                </a:ext>
              </a:extLst>
            </p:cNvPr>
            <p:cNvSpPr/>
            <p:nvPr/>
          </p:nvSpPr>
          <p:spPr>
            <a:xfrm>
              <a:off x="11194991" y="3196128"/>
              <a:ext cx="554765" cy="14527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E4BAC5-ABDF-4303-F0DC-70E3159272D2}"/>
                </a:ext>
              </a:extLst>
            </p:cNvPr>
            <p:cNvSpPr/>
            <p:nvPr/>
          </p:nvSpPr>
          <p:spPr>
            <a:xfrm>
              <a:off x="11318905" y="4520725"/>
              <a:ext cx="554765" cy="572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2FB42E6-7D18-89BF-A26F-063D1570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0339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DB74E2-B176-C31A-1EC8-F06A154F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2</a:t>
            </a:fld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E588D-652D-0CA9-F58A-68F96B16E814}"/>
              </a:ext>
            </a:extLst>
          </p:cNvPr>
          <p:cNvSpPr txBox="1"/>
          <p:nvPr/>
        </p:nvSpPr>
        <p:spPr>
          <a:xfrm>
            <a:off x="2849045" y="1965531"/>
            <a:ext cx="2409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/>
              <a:t>Contents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9AA938D-5D88-6D1D-E0A1-97A10F859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353" y="1839642"/>
            <a:ext cx="1317659" cy="102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A04CBF-69CD-2188-7CDD-0A39AD1B0270}"/>
              </a:ext>
            </a:extLst>
          </p:cNvPr>
          <p:cNvSpPr txBox="1"/>
          <p:nvPr/>
        </p:nvSpPr>
        <p:spPr>
          <a:xfrm>
            <a:off x="6178383" y="482923"/>
            <a:ext cx="4093661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404040"/>
                </a:solidFill>
              </a:rPr>
              <a:t>1</a:t>
            </a:r>
            <a:r>
              <a:rPr lang="en-CA" sz="3200" b="1" dirty="0"/>
              <a:t> </a:t>
            </a:r>
            <a:r>
              <a:rPr lang="en-CA" sz="3200" dirty="0"/>
              <a:t>Objectives</a:t>
            </a:r>
          </a:p>
          <a:p>
            <a:r>
              <a:rPr lang="en-CA" sz="3200" b="1" dirty="0">
                <a:solidFill>
                  <a:srgbClr val="404040"/>
                </a:solidFill>
              </a:rPr>
              <a:t>2</a:t>
            </a:r>
            <a:r>
              <a:rPr lang="en-CA" sz="3200" b="1" dirty="0"/>
              <a:t> </a:t>
            </a:r>
            <a:r>
              <a:rPr lang="en-CA" sz="3200" dirty="0"/>
              <a:t>R interface</a:t>
            </a:r>
          </a:p>
          <a:p>
            <a:r>
              <a:rPr lang="en-CA" sz="3200" b="1" dirty="0">
                <a:solidFill>
                  <a:srgbClr val="404040"/>
                </a:solidFill>
              </a:rPr>
              <a:t>3</a:t>
            </a:r>
            <a:r>
              <a:rPr lang="en-CA" sz="3200" b="1" dirty="0"/>
              <a:t> </a:t>
            </a:r>
            <a:r>
              <a:rPr lang="en-CA" sz="3200" dirty="0"/>
              <a:t>Installation</a:t>
            </a:r>
          </a:p>
          <a:p>
            <a:r>
              <a:rPr lang="en-CA" sz="3200" b="1" dirty="0">
                <a:solidFill>
                  <a:srgbClr val="404040"/>
                </a:solidFill>
              </a:rPr>
              <a:t>4 </a:t>
            </a:r>
            <a:r>
              <a:rPr lang="en-CA" sz="3200" dirty="0"/>
              <a:t>Enter data</a:t>
            </a:r>
          </a:p>
          <a:p>
            <a:r>
              <a:rPr lang="en-CA" sz="3200" b="1" dirty="0">
                <a:solidFill>
                  <a:srgbClr val="404040"/>
                </a:solidFill>
              </a:rPr>
              <a:t>5 </a:t>
            </a:r>
            <a:r>
              <a:rPr lang="en-CA" sz="3200" dirty="0"/>
              <a:t>Create dataset </a:t>
            </a:r>
          </a:p>
          <a:p>
            <a:r>
              <a:rPr lang="en-CA" sz="3200" b="1" dirty="0">
                <a:solidFill>
                  <a:srgbClr val="404040"/>
                </a:solidFill>
              </a:rPr>
              <a:t>6</a:t>
            </a:r>
            <a:r>
              <a:rPr lang="en-CA" sz="3200" b="1" dirty="0"/>
              <a:t> </a:t>
            </a:r>
            <a:r>
              <a:rPr lang="en-CA" sz="3200" dirty="0"/>
              <a:t>Import dataset </a:t>
            </a:r>
          </a:p>
          <a:p>
            <a:r>
              <a:rPr lang="en-CA" sz="3200" b="1" dirty="0">
                <a:solidFill>
                  <a:srgbClr val="404040"/>
                </a:solidFill>
              </a:rPr>
              <a:t>7</a:t>
            </a:r>
            <a:r>
              <a:rPr lang="en-CA" sz="3200" b="1" dirty="0"/>
              <a:t> </a:t>
            </a:r>
            <a:r>
              <a:rPr lang="en-CA" sz="3200" dirty="0"/>
              <a:t>Save/export dataset</a:t>
            </a:r>
          </a:p>
          <a:p>
            <a:r>
              <a:rPr lang="en-CA" sz="3200" b="1" dirty="0">
                <a:solidFill>
                  <a:srgbClr val="404040"/>
                </a:solidFill>
              </a:rPr>
              <a:t>8 </a:t>
            </a:r>
            <a:r>
              <a:rPr lang="en-CA" sz="3200" dirty="0"/>
              <a:t>Select variables</a:t>
            </a:r>
          </a:p>
          <a:p>
            <a:r>
              <a:rPr lang="en-CA" sz="3200" b="1" dirty="0">
                <a:solidFill>
                  <a:srgbClr val="404040"/>
                </a:solidFill>
              </a:rPr>
              <a:t>9 </a:t>
            </a:r>
            <a:r>
              <a:rPr lang="en-CA" sz="3200" dirty="0"/>
              <a:t>Data Visualization</a:t>
            </a:r>
          </a:p>
          <a:p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713355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3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852269" y="103548"/>
            <a:ext cx="1734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Objectives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D295A45-549B-E81A-FD29-708A0A716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9" y="2171776"/>
            <a:ext cx="1317659" cy="102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7CD60E-6BCF-AA81-53B3-91AFB484E1D3}"/>
              </a:ext>
            </a:extLst>
          </p:cNvPr>
          <p:cNvSpPr txBox="1"/>
          <p:nvPr/>
        </p:nvSpPr>
        <p:spPr>
          <a:xfrm>
            <a:off x="576912" y="3589234"/>
            <a:ext cx="2020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R Introduction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C9D50-4B1C-6429-E7E1-E340E057D450}"/>
              </a:ext>
            </a:extLst>
          </p:cNvPr>
          <p:cNvSpPr txBox="1"/>
          <p:nvPr/>
        </p:nvSpPr>
        <p:spPr>
          <a:xfrm>
            <a:off x="3219872" y="3589233"/>
            <a:ext cx="2020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/>
              <a:t>Data Management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A7B791-53C3-A6C0-DEFA-9FAEEEE37A8D}"/>
              </a:ext>
            </a:extLst>
          </p:cNvPr>
          <p:cNvSpPr txBox="1"/>
          <p:nvPr/>
        </p:nvSpPr>
        <p:spPr>
          <a:xfrm>
            <a:off x="6096000" y="3589233"/>
            <a:ext cx="2020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/>
              <a:t>Statistical</a:t>
            </a:r>
          </a:p>
          <a:p>
            <a:pPr algn="ctr"/>
            <a:r>
              <a:rPr lang="en-CA" sz="2400" b="1" dirty="0"/>
              <a:t>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7527D4-D0A5-2ACF-6936-3BC84A898597}"/>
              </a:ext>
            </a:extLst>
          </p:cNvPr>
          <p:cNvSpPr txBox="1"/>
          <p:nvPr/>
        </p:nvSpPr>
        <p:spPr>
          <a:xfrm>
            <a:off x="8972128" y="3589232"/>
            <a:ext cx="2020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/>
              <a:t>Visualization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E38036E-905C-41B1-02E9-177119666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1092" y="1935775"/>
            <a:ext cx="1493225" cy="14932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4236DBB-2653-3E03-797E-04C0A6780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314" y="1935775"/>
            <a:ext cx="1493225" cy="14932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9EEFB77-4E9D-19AA-C142-29C25339B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133" y="1937604"/>
            <a:ext cx="1651628" cy="165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60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C6BBB7-F24C-81CE-4C01-33340CDB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4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70423-383F-7F0A-8677-F0C2DCC49AAD}"/>
              </a:ext>
            </a:extLst>
          </p:cNvPr>
          <p:cNvSpPr txBox="1"/>
          <p:nvPr/>
        </p:nvSpPr>
        <p:spPr>
          <a:xfrm>
            <a:off x="786212" y="51083"/>
            <a:ext cx="6571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R interface – </a:t>
            </a:r>
            <a:r>
              <a:rPr lang="en-CA" sz="2400" b="1" i="0" dirty="0">
                <a:effectLst/>
                <a:latin typeface="Söhne"/>
              </a:rPr>
              <a:t>R GUIs (Graphical User Interfaces)</a:t>
            </a:r>
            <a:endParaRPr lang="en-CA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95C58D-DF05-6BB6-E9DB-D12087DE1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959" y="747705"/>
            <a:ext cx="6864144" cy="55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9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C6BBB7-F24C-81CE-4C01-33340CDB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5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70423-383F-7F0A-8677-F0C2DCC49AAD}"/>
              </a:ext>
            </a:extLst>
          </p:cNvPr>
          <p:cNvSpPr txBox="1"/>
          <p:nvPr/>
        </p:nvSpPr>
        <p:spPr>
          <a:xfrm>
            <a:off x="786213" y="51083"/>
            <a:ext cx="3324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R interface – RStudio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DFE3A-06A5-BA36-1D4B-CE7D5D4C4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38" y="837680"/>
            <a:ext cx="7954622" cy="5310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90EFC12-A5DD-1DF7-093E-7E480F65896C}"/>
              </a:ext>
            </a:extLst>
          </p:cNvPr>
          <p:cNvSpPr/>
          <p:nvPr/>
        </p:nvSpPr>
        <p:spPr>
          <a:xfrm>
            <a:off x="1984138" y="1461331"/>
            <a:ext cx="5544707" cy="24184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106FEE-2CDA-C4B1-0019-239D0B1C0216}"/>
              </a:ext>
            </a:extLst>
          </p:cNvPr>
          <p:cNvSpPr/>
          <p:nvPr/>
        </p:nvSpPr>
        <p:spPr>
          <a:xfrm>
            <a:off x="1984138" y="4055147"/>
            <a:ext cx="5544707" cy="20935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C777B2-5B24-4EE9-4F44-34670637EC27}"/>
              </a:ext>
            </a:extLst>
          </p:cNvPr>
          <p:cNvSpPr/>
          <p:nvPr/>
        </p:nvSpPr>
        <p:spPr>
          <a:xfrm>
            <a:off x="7528845" y="1461331"/>
            <a:ext cx="2409915" cy="17091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B9FB3B-2B9E-D085-1B8F-96EE06A4A90F}"/>
              </a:ext>
            </a:extLst>
          </p:cNvPr>
          <p:cNvSpPr/>
          <p:nvPr/>
        </p:nvSpPr>
        <p:spPr>
          <a:xfrm>
            <a:off x="7528844" y="3232885"/>
            <a:ext cx="2409915" cy="29157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E1FE30-0B5A-E33C-F692-52472EC451F1}"/>
              </a:ext>
            </a:extLst>
          </p:cNvPr>
          <p:cNvSpPr txBox="1"/>
          <p:nvPr/>
        </p:nvSpPr>
        <p:spPr>
          <a:xfrm>
            <a:off x="6400799" y="3338683"/>
            <a:ext cx="1025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R Script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7D8AE6-C162-1E0B-F3FC-20DB5DD44C9D}"/>
              </a:ext>
            </a:extLst>
          </p:cNvPr>
          <p:cNvSpPr txBox="1"/>
          <p:nvPr/>
        </p:nvSpPr>
        <p:spPr>
          <a:xfrm>
            <a:off x="6400799" y="4390028"/>
            <a:ext cx="1025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Console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56A1F4-9E2E-AB30-BB8D-3E87FF1F045C}"/>
              </a:ext>
            </a:extLst>
          </p:cNvPr>
          <p:cNvSpPr txBox="1"/>
          <p:nvPr/>
        </p:nvSpPr>
        <p:spPr>
          <a:xfrm>
            <a:off x="7554479" y="4514945"/>
            <a:ext cx="1623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Files, Plots, Packages, Help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EAE324-6458-3873-3A4A-8ABC20EACED4}"/>
              </a:ext>
            </a:extLst>
          </p:cNvPr>
          <p:cNvSpPr txBox="1"/>
          <p:nvPr/>
        </p:nvSpPr>
        <p:spPr>
          <a:xfrm>
            <a:off x="7554479" y="2524159"/>
            <a:ext cx="1623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Environment, History</a:t>
            </a:r>
          </a:p>
        </p:txBody>
      </p:sp>
    </p:spTree>
    <p:extLst>
      <p:ext uri="{BB962C8B-B14F-4D97-AF65-F5344CB8AC3E}">
        <p14:creationId xmlns:p14="http://schemas.microsoft.com/office/powerpoint/2010/main" val="1151791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F2A1E7-18AD-0131-0E00-7E4966313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450" y="0"/>
            <a:ext cx="7641531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298FDC-3657-5667-B452-4E605E82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6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264865-5049-F097-FE45-3D2245F7D254}"/>
              </a:ext>
            </a:extLst>
          </p:cNvPr>
          <p:cNvSpPr txBox="1"/>
          <p:nvPr/>
        </p:nvSpPr>
        <p:spPr>
          <a:xfrm>
            <a:off x="786213" y="51083"/>
            <a:ext cx="3324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Installation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28998D-00DA-D876-5D3A-D0DCCCE130A1}"/>
              </a:ext>
            </a:extLst>
          </p:cNvPr>
          <p:cNvSpPr/>
          <p:nvPr/>
        </p:nvSpPr>
        <p:spPr>
          <a:xfrm>
            <a:off x="3605885" y="188007"/>
            <a:ext cx="846034" cy="2392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58E2F-097A-E2B0-884C-5F12B1573DD8}"/>
              </a:ext>
            </a:extLst>
          </p:cNvPr>
          <p:cNvSpPr txBox="1"/>
          <p:nvPr/>
        </p:nvSpPr>
        <p:spPr>
          <a:xfrm>
            <a:off x="4469010" y="122983"/>
            <a:ext cx="1380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1. Search 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D761EA-174C-5C6C-161B-136C5CBCEB85}"/>
              </a:ext>
            </a:extLst>
          </p:cNvPr>
          <p:cNvSpPr/>
          <p:nvPr/>
        </p:nvSpPr>
        <p:spPr>
          <a:xfrm>
            <a:off x="3776800" y="5204388"/>
            <a:ext cx="1701053" cy="2392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90C1A5-2761-3629-B767-B29C6D5197CB}"/>
              </a:ext>
            </a:extLst>
          </p:cNvPr>
          <p:cNvSpPr txBox="1"/>
          <p:nvPr/>
        </p:nvSpPr>
        <p:spPr>
          <a:xfrm>
            <a:off x="5734499" y="5573494"/>
            <a:ext cx="287610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2. Click Windows or macOS</a:t>
            </a:r>
          </a:p>
          <a:p>
            <a:r>
              <a:rPr lang="en-CA" b="1" dirty="0">
                <a:solidFill>
                  <a:srgbClr val="FF0000"/>
                </a:solidFill>
              </a:rPr>
              <a:t>    depending on your 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416019-E351-EA09-B3AD-87A2624AE0F8}"/>
              </a:ext>
            </a:extLst>
          </p:cNvPr>
          <p:cNvSpPr/>
          <p:nvPr/>
        </p:nvSpPr>
        <p:spPr>
          <a:xfrm>
            <a:off x="3776800" y="6350903"/>
            <a:ext cx="1701053" cy="2392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8618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AB252-1431-124B-8B30-F525EEB3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7</a:t>
            </a:fld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0942AA-485D-9CC5-87EE-A782A291F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245" y="674612"/>
            <a:ext cx="8632808" cy="21025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37CDE1-2304-A6F3-5645-C3C2C933B39E}"/>
              </a:ext>
            </a:extLst>
          </p:cNvPr>
          <p:cNvSpPr txBox="1"/>
          <p:nvPr/>
        </p:nvSpPr>
        <p:spPr>
          <a:xfrm>
            <a:off x="786213" y="51083"/>
            <a:ext cx="3324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Installation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C5AB1C-F175-5DDC-05E1-19F39ABF5454}"/>
              </a:ext>
            </a:extLst>
          </p:cNvPr>
          <p:cNvSpPr/>
          <p:nvPr/>
        </p:nvSpPr>
        <p:spPr>
          <a:xfrm>
            <a:off x="1785630" y="1486622"/>
            <a:ext cx="3675133" cy="4447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6EBAE-C58F-E81C-D8A0-19C50D680582}"/>
              </a:ext>
            </a:extLst>
          </p:cNvPr>
          <p:cNvSpPr txBox="1"/>
          <p:nvPr/>
        </p:nvSpPr>
        <p:spPr>
          <a:xfrm>
            <a:off x="1678095" y="895951"/>
            <a:ext cx="220454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2. Click download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AF78EC-91B0-D90F-9B7C-81802C09E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954" y="3076604"/>
            <a:ext cx="6797467" cy="353593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18CE600-AA88-2616-D79D-5AF2D2401CDF}"/>
              </a:ext>
            </a:extLst>
          </p:cNvPr>
          <p:cNvSpPr/>
          <p:nvPr/>
        </p:nvSpPr>
        <p:spPr>
          <a:xfrm>
            <a:off x="2965391" y="5894306"/>
            <a:ext cx="1495514" cy="2307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AF0658-FB49-311D-905C-5177AEE5FDAB}"/>
              </a:ext>
            </a:extLst>
          </p:cNvPr>
          <p:cNvSpPr txBox="1"/>
          <p:nvPr/>
        </p:nvSpPr>
        <p:spPr>
          <a:xfrm>
            <a:off x="4543038" y="5755710"/>
            <a:ext cx="296266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3. Click download RStudio</a:t>
            </a:r>
          </a:p>
        </p:txBody>
      </p:sp>
    </p:spTree>
    <p:extLst>
      <p:ext uri="{BB962C8B-B14F-4D97-AF65-F5344CB8AC3E}">
        <p14:creationId xmlns:p14="http://schemas.microsoft.com/office/powerpoint/2010/main" val="2706090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2DEF70-5C19-E5C0-A2AF-35ED34C4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8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A2B7D7-38DC-2935-A1E7-2A999BF7D099}"/>
              </a:ext>
            </a:extLst>
          </p:cNvPr>
          <p:cNvSpPr txBox="1"/>
          <p:nvPr/>
        </p:nvSpPr>
        <p:spPr>
          <a:xfrm>
            <a:off x="786213" y="51083"/>
            <a:ext cx="3324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Installation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3D892C-695B-FB6F-A29A-A5B5DEAB7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256" y="136525"/>
            <a:ext cx="5769836" cy="319171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539E2DD-953C-A1AF-FF4A-C648960DAD0C}"/>
              </a:ext>
            </a:extLst>
          </p:cNvPr>
          <p:cNvSpPr/>
          <p:nvPr/>
        </p:nvSpPr>
        <p:spPr>
          <a:xfrm>
            <a:off x="3657600" y="2886186"/>
            <a:ext cx="1324598" cy="3822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AE52CB-4F56-71B3-0D1B-278A371A1BC0}"/>
              </a:ext>
            </a:extLst>
          </p:cNvPr>
          <p:cNvSpPr txBox="1"/>
          <p:nvPr/>
        </p:nvSpPr>
        <p:spPr>
          <a:xfrm>
            <a:off x="495656" y="2886186"/>
            <a:ext cx="296266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4. Click download RStudio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AEC7B-1CC4-AC08-5B6D-05F6B83B3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938" y="3428999"/>
            <a:ext cx="6016801" cy="32924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934CECC-5F4E-036E-2284-329B4051768A}"/>
              </a:ext>
            </a:extLst>
          </p:cNvPr>
          <p:cNvSpPr/>
          <p:nvPr/>
        </p:nvSpPr>
        <p:spPr>
          <a:xfrm>
            <a:off x="6715569" y="5892882"/>
            <a:ext cx="2129327" cy="3822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E12EE3-27A7-2BBF-E828-2C30123D5BE6}"/>
              </a:ext>
            </a:extLst>
          </p:cNvPr>
          <p:cNvSpPr txBox="1"/>
          <p:nvPr/>
        </p:nvSpPr>
        <p:spPr>
          <a:xfrm>
            <a:off x="8987770" y="5886254"/>
            <a:ext cx="274320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5. Click download RStudio</a:t>
            </a:r>
          </a:p>
        </p:txBody>
      </p:sp>
    </p:spTree>
    <p:extLst>
      <p:ext uri="{BB962C8B-B14F-4D97-AF65-F5344CB8AC3E}">
        <p14:creationId xmlns:p14="http://schemas.microsoft.com/office/powerpoint/2010/main" val="2043637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9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905482" y="210109"/>
            <a:ext cx="6340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R works via USER made packages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1845E-D58A-B315-3476-59D15CBC9EB1}"/>
              </a:ext>
            </a:extLst>
          </p:cNvPr>
          <p:cNvSpPr txBox="1"/>
          <p:nvPr/>
        </p:nvSpPr>
        <p:spPr>
          <a:xfrm>
            <a:off x="1016949" y="914593"/>
            <a:ext cx="982843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R works via USER make packages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/>
              <a:t>There are 20066 packages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https://cran.r-project.org/web/packages/available_packages_by_name.html</a:t>
            </a:r>
            <a:r>
              <a:rPr lang="en-CA" sz="24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/>
              <a:t>Submission and general verification is done by volunteers with CRAN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/>
              <a:t>Fundamentally different than Stata and SAS</a:t>
            </a:r>
          </a:p>
          <a:p>
            <a:pPr lvl="1"/>
            <a:endParaRPr lang="en-CA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Two general frameworks for working with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/>
              <a:t>Base 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 err="1"/>
              <a:t>Tidyverse</a:t>
            </a:r>
            <a:r>
              <a:rPr lang="en-CA" sz="2400" dirty="0"/>
              <a:t> (Developed by RStudio)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/>
              <a:t>If you google around know which one you are looking for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17597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10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905482" y="210109"/>
            <a:ext cx="6340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Good coding practices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1845E-D58A-B315-3476-59D15CBC9EB1}"/>
              </a:ext>
            </a:extLst>
          </p:cNvPr>
          <p:cNvSpPr txBox="1"/>
          <p:nvPr/>
        </p:nvSpPr>
        <p:spPr>
          <a:xfrm>
            <a:off x="1016949" y="914593"/>
            <a:ext cx="1071122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Good idea to follow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>
                <a:hlinkClick r:id="rId2"/>
              </a:rPr>
              <a:t>https://google.github.io/styleguide/Rguide.html</a:t>
            </a:r>
            <a:endParaRPr lang="en-CA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>
                <a:hlinkClick r:id="rId3"/>
              </a:rPr>
              <a:t>https://www.r-bloggers.com/2018/09/r-code-best-practices/</a:t>
            </a:r>
            <a:endParaRPr lang="en-CA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2400" dirty="0"/>
              <a:t>There are 5 naming conventions to choose from: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2400" i="1" dirty="0" err="1"/>
              <a:t>alllowercase</a:t>
            </a:r>
            <a:r>
              <a:rPr lang="en-CA" sz="2400" dirty="0"/>
              <a:t>: e.g. </a:t>
            </a:r>
            <a:r>
              <a:rPr lang="en-CA" sz="2400" dirty="0" err="1"/>
              <a:t>adjustcolor</a:t>
            </a:r>
            <a:endParaRPr lang="en-CA" sz="24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2400" i="1" dirty="0" err="1"/>
              <a:t>period.separated</a:t>
            </a:r>
            <a:r>
              <a:rPr lang="en-CA" sz="2400" dirty="0"/>
              <a:t>: e.g. </a:t>
            </a:r>
            <a:r>
              <a:rPr lang="en-CA" sz="2400" dirty="0" err="1"/>
              <a:t>plot.new</a:t>
            </a:r>
            <a:endParaRPr lang="en-CA" sz="24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2400" i="1" dirty="0" err="1">
                <a:solidFill>
                  <a:srgbClr val="7030A0"/>
                </a:solidFill>
              </a:rPr>
              <a:t>underscore_separated</a:t>
            </a:r>
            <a:r>
              <a:rPr lang="en-CA" sz="2400" dirty="0">
                <a:solidFill>
                  <a:srgbClr val="7030A0"/>
                </a:solidFill>
              </a:rPr>
              <a:t>: e.g. </a:t>
            </a:r>
            <a:r>
              <a:rPr lang="en-CA" sz="2400" dirty="0" err="1">
                <a:solidFill>
                  <a:srgbClr val="7030A0"/>
                </a:solidFill>
              </a:rPr>
              <a:t>numeric_version</a:t>
            </a:r>
            <a:endParaRPr lang="en-CA" sz="2400" dirty="0">
              <a:solidFill>
                <a:srgbClr val="7030A0"/>
              </a:solidFill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2400" i="1" dirty="0" err="1"/>
              <a:t>lowerCamelCase</a:t>
            </a:r>
            <a:r>
              <a:rPr lang="en-CA" sz="2400" dirty="0"/>
              <a:t>: e.g. </a:t>
            </a:r>
            <a:r>
              <a:rPr lang="en-CA" sz="2400" dirty="0" err="1"/>
              <a:t>addTaskCallback</a:t>
            </a:r>
            <a:endParaRPr lang="en-CA" sz="24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2400" i="1" dirty="0" err="1"/>
              <a:t>UpperCamelCase</a:t>
            </a:r>
            <a:r>
              <a:rPr lang="en-CA" sz="2400" dirty="0"/>
              <a:t>: e.g. </a:t>
            </a:r>
            <a:r>
              <a:rPr lang="en-CA" sz="2400" dirty="0" err="1"/>
              <a:t>SignatureMethod</a:t>
            </a:r>
            <a:endParaRPr lang="en-CA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2400" dirty="0"/>
              <a:t>Pick one naming convention and stick to it. My suggestion: 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2400" b="1" dirty="0"/>
              <a:t>Files</a:t>
            </a:r>
            <a:r>
              <a:rPr lang="en-CA" sz="2400" dirty="0"/>
              <a:t>: </a:t>
            </a:r>
            <a:r>
              <a:rPr lang="en-CA" sz="2400" dirty="0" err="1"/>
              <a:t>underscore_separated</a:t>
            </a:r>
            <a:r>
              <a:rPr lang="en-CA" sz="2400" dirty="0"/>
              <a:t>, all lower case: e.g. </a:t>
            </a:r>
            <a:r>
              <a:rPr lang="en-CA" sz="2400" dirty="0" err="1"/>
              <a:t>numeric_version</a:t>
            </a:r>
            <a:endParaRPr lang="en-CA" sz="24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2400" b="1" dirty="0"/>
              <a:t>Functions</a:t>
            </a:r>
            <a:r>
              <a:rPr lang="en-CA" sz="2400" dirty="0"/>
              <a:t>: </a:t>
            </a:r>
            <a:r>
              <a:rPr lang="en-CA" sz="2400" i="1" dirty="0" err="1"/>
              <a:t>UpperCamelCase</a:t>
            </a:r>
            <a:r>
              <a:rPr lang="en-CA" sz="2400" dirty="0"/>
              <a:t>, all lower case: e.g. </a:t>
            </a:r>
            <a:r>
              <a:rPr lang="en-CA" sz="2400" dirty="0" err="1"/>
              <a:t>MyFunction</a:t>
            </a:r>
            <a:endParaRPr lang="en-CA" sz="2400" dirty="0"/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2400" b="1" dirty="0"/>
              <a:t>Variables</a:t>
            </a:r>
            <a:r>
              <a:rPr lang="en-CA" sz="2400" dirty="0"/>
              <a:t>: </a:t>
            </a:r>
            <a:r>
              <a:rPr lang="en-CA" sz="2400" dirty="0" err="1"/>
              <a:t>underscore_separated</a:t>
            </a:r>
            <a:r>
              <a:rPr lang="en-CA" sz="2400" dirty="0"/>
              <a:t>, all lower case: e.g. </a:t>
            </a:r>
            <a:r>
              <a:rPr lang="en-CA" sz="2400" dirty="0" err="1"/>
              <a:t>numeric_version</a:t>
            </a:r>
            <a:endParaRPr lang="en-CA" sz="2400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18786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11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786212" y="51083"/>
            <a:ext cx="3748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Entering data (vector)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1845E-D58A-B315-3476-59D15CBC9EB1}"/>
              </a:ext>
            </a:extLst>
          </p:cNvPr>
          <p:cNvSpPr txBox="1"/>
          <p:nvPr/>
        </p:nvSpPr>
        <p:spPr>
          <a:xfrm>
            <a:off x="1016949" y="914593"/>
            <a:ext cx="9828435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# if we put # sign, R will not recognize it</a:t>
            </a:r>
          </a:p>
          <a:p>
            <a:r>
              <a:rPr lang="en-CA" sz="2400" dirty="0"/>
              <a:t># entering numeric data/value </a:t>
            </a:r>
            <a:r>
              <a:rPr lang="en-CA" sz="2400" b="1" dirty="0"/>
              <a:t>1</a:t>
            </a:r>
            <a:r>
              <a:rPr lang="en-CA" sz="2400" dirty="0"/>
              <a:t> into environment (named as </a:t>
            </a:r>
            <a:r>
              <a:rPr lang="en-CA" sz="2400" b="1" dirty="0"/>
              <a:t>a</a:t>
            </a:r>
            <a:r>
              <a:rPr lang="en-CA" sz="2400" dirty="0"/>
              <a:t>)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a &lt;- 1</a:t>
            </a:r>
          </a:p>
          <a:p>
            <a:r>
              <a:rPr lang="en-CA" sz="2400" dirty="0"/>
              <a:t># to see data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a</a:t>
            </a:r>
          </a:p>
          <a:p>
            <a:endParaRPr lang="en-CA" sz="2400" dirty="0"/>
          </a:p>
          <a:p>
            <a:r>
              <a:rPr lang="en-CA" sz="2400" dirty="0"/>
              <a:t># entering </a:t>
            </a:r>
            <a:r>
              <a:rPr lang="en-CA" sz="2400" b="1" dirty="0"/>
              <a:t>hello world</a:t>
            </a:r>
            <a:r>
              <a:rPr lang="en-CA" sz="2400" dirty="0"/>
              <a:t> into environment (named as </a:t>
            </a:r>
            <a:r>
              <a:rPr lang="en-CA" sz="2400" b="1" dirty="0"/>
              <a:t>b</a:t>
            </a:r>
            <a:r>
              <a:rPr lang="en-CA" sz="2400" dirty="0"/>
              <a:t>)</a:t>
            </a:r>
          </a:p>
          <a:p>
            <a:r>
              <a:rPr lang="en-CA" sz="2400" dirty="0"/>
              <a:t># hello is character data, use single or double quote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b &lt;- "hello world"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b</a:t>
            </a:r>
          </a:p>
          <a:p>
            <a:endParaRPr lang="en-US" sz="2400" dirty="0"/>
          </a:p>
          <a:p>
            <a:r>
              <a:rPr lang="en-US" sz="2400" dirty="0"/>
              <a:t># Given names such a, b are not case sensitive</a:t>
            </a:r>
          </a:p>
          <a:p>
            <a:endParaRPr lang="en-CA" sz="2400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85980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12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786212" y="51083"/>
            <a:ext cx="3748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Entering data (vector)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1845E-D58A-B315-3476-59D15CBC9EB1}"/>
              </a:ext>
            </a:extLst>
          </p:cNvPr>
          <p:cNvSpPr txBox="1"/>
          <p:nvPr/>
        </p:nvSpPr>
        <p:spPr>
          <a:xfrm>
            <a:off x="786212" y="800644"/>
            <a:ext cx="982843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# entering multiple </a:t>
            </a:r>
            <a:r>
              <a:rPr lang="en-CA" sz="2400" b="1" dirty="0"/>
              <a:t>numeric</a:t>
            </a:r>
            <a:r>
              <a:rPr lang="en-CA" sz="2400" dirty="0"/>
              <a:t> data into environment (named as </a:t>
            </a:r>
            <a:r>
              <a:rPr lang="en-CA" sz="2400" b="1" dirty="0"/>
              <a:t>a_1</a:t>
            </a:r>
            <a:r>
              <a:rPr lang="en-CA" sz="2400" dirty="0"/>
              <a:t>)</a:t>
            </a:r>
            <a:endParaRPr lang="en-US" sz="2400" dirty="0"/>
          </a:p>
          <a:p>
            <a:endParaRPr lang="en-US" sz="2400" dirty="0"/>
          </a:p>
          <a:p>
            <a:r>
              <a:rPr lang="en-US" sz="2400" i="1" dirty="0">
                <a:solidFill>
                  <a:srgbClr val="7030A0"/>
                </a:solidFill>
              </a:rPr>
              <a:t>a_1 &lt;- c(22, 55, 26, 30, 42, 24)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a_1</a:t>
            </a:r>
          </a:p>
          <a:p>
            <a:endParaRPr lang="en-US" sz="2400" dirty="0"/>
          </a:p>
          <a:p>
            <a:r>
              <a:rPr lang="en-US" sz="2400" dirty="0"/>
              <a:t># capital C will not work</a:t>
            </a:r>
          </a:p>
          <a:p>
            <a:endParaRPr lang="en-US" sz="2400" dirty="0"/>
          </a:p>
          <a:p>
            <a:r>
              <a:rPr lang="en-CA" sz="2400" dirty="0"/>
              <a:t># no space or unequal space between values will work</a:t>
            </a:r>
          </a:p>
          <a:p>
            <a:endParaRPr lang="en-US" sz="2400" dirty="0"/>
          </a:p>
          <a:p>
            <a:r>
              <a:rPr lang="en-CA" sz="2400" dirty="0"/>
              <a:t># entering multiple </a:t>
            </a:r>
            <a:r>
              <a:rPr lang="en-CA" sz="2400" b="1" dirty="0"/>
              <a:t>character</a:t>
            </a:r>
            <a:r>
              <a:rPr lang="en-CA" sz="2400" dirty="0"/>
              <a:t> data into environment (named as </a:t>
            </a:r>
            <a:r>
              <a:rPr lang="en-CA" sz="2400" b="1" dirty="0"/>
              <a:t>b_1</a:t>
            </a:r>
            <a:r>
              <a:rPr lang="en-CA" sz="2400" dirty="0"/>
              <a:t>)</a:t>
            </a:r>
            <a:endParaRPr lang="en-US" sz="2400" dirty="0"/>
          </a:p>
          <a:p>
            <a:r>
              <a:rPr lang="en-US" sz="2400" i="1" dirty="0">
                <a:solidFill>
                  <a:srgbClr val="7030A0"/>
                </a:solidFill>
              </a:rPr>
              <a:t>b_1 &lt;- c("m", "f", "m", "m", "f", "m")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b_1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311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13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816192" y="223469"/>
            <a:ext cx="5682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Entering data, Creating dataset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1845E-D58A-B315-3476-59D15CBC9EB1}"/>
              </a:ext>
            </a:extLst>
          </p:cNvPr>
          <p:cNvSpPr txBox="1"/>
          <p:nvPr/>
        </p:nvSpPr>
        <p:spPr>
          <a:xfrm>
            <a:off x="1016949" y="914593"/>
            <a:ext cx="100457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i="1" dirty="0">
                <a:solidFill>
                  <a:srgbClr val="7030A0"/>
                </a:solidFill>
              </a:rPr>
              <a:t>c.1 &lt;- c(1, 2, 3, 4, 5, 6)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c.1</a:t>
            </a:r>
          </a:p>
          <a:p>
            <a:endParaRPr lang="en-US" sz="2400" dirty="0"/>
          </a:p>
          <a:p>
            <a:r>
              <a:rPr lang="en-US" sz="2400" dirty="0"/>
              <a:t># creating data set named ‘practice’ using variable a_1, b_1, c_1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practice &lt;- </a:t>
            </a:r>
            <a:r>
              <a:rPr lang="en-US" sz="2400" i="1" dirty="0" err="1">
                <a:solidFill>
                  <a:srgbClr val="7030A0"/>
                </a:solidFill>
              </a:rPr>
              <a:t>data.frame</a:t>
            </a:r>
            <a:r>
              <a:rPr lang="en-US" sz="2400" i="1" dirty="0">
                <a:solidFill>
                  <a:srgbClr val="7030A0"/>
                </a:solidFill>
              </a:rPr>
              <a:t>(age=a_1, sex=b_1, id=c_1)</a:t>
            </a:r>
          </a:p>
          <a:p>
            <a:endParaRPr lang="en-US" sz="2400" dirty="0"/>
          </a:p>
          <a:p>
            <a:r>
              <a:rPr lang="en-CA" sz="2400" dirty="0"/>
              <a:t># length of a_1, b_1, c_1 should be same</a:t>
            </a:r>
          </a:p>
          <a:p>
            <a:r>
              <a:rPr lang="en-CA" sz="2400" dirty="0"/>
              <a:t># giving name as ‘age’ using a_1</a:t>
            </a:r>
          </a:p>
          <a:p>
            <a:r>
              <a:rPr lang="en-CA" sz="2400" dirty="0"/>
              <a:t># giving name as ‘sex’ using b_1</a:t>
            </a:r>
          </a:p>
          <a:p>
            <a:r>
              <a:rPr lang="en-CA" sz="2400" dirty="0"/>
              <a:t># giving name as ‘id’ using c_1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en-US" sz="2400" dirty="0" err="1"/>
              <a:t>data.frame</a:t>
            </a:r>
            <a:r>
              <a:rPr lang="en-US" sz="2400" dirty="0"/>
              <a:t> is a function and should be typed as it is</a:t>
            </a:r>
          </a:p>
        </p:txBody>
      </p:sp>
    </p:spTree>
    <p:extLst>
      <p:ext uri="{BB962C8B-B14F-4D97-AF65-F5344CB8AC3E}">
        <p14:creationId xmlns:p14="http://schemas.microsoft.com/office/powerpoint/2010/main" val="322710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14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838679" y="81064"/>
            <a:ext cx="4255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Exploring dataset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30AB69-8F2B-4E10-3A08-A37C7AFCFBFB}"/>
              </a:ext>
            </a:extLst>
          </p:cNvPr>
          <p:cNvSpPr txBox="1"/>
          <p:nvPr/>
        </p:nvSpPr>
        <p:spPr>
          <a:xfrm>
            <a:off x="786213" y="807251"/>
            <a:ext cx="929314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# to know about the data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str(</a:t>
            </a:r>
            <a:r>
              <a:rPr lang="en-US" sz="2400" i="1" dirty="0">
                <a:solidFill>
                  <a:srgbClr val="7030A0"/>
                </a:solidFill>
              </a:rPr>
              <a:t>practice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dirty="0"/>
          </a:p>
          <a:p>
            <a:r>
              <a:rPr lang="en-CA" sz="2400" dirty="0"/>
              <a:t># to get summary statistics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summary(</a:t>
            </a:r>
            <a:r>
              <a:rPr lang="en-US" sz="2400" i="1" dirty="0">
                <a:solidFill>
                  <a:srgbClr val="7030A0"/>
                </a:solidFill>
              </a:rPr>
              <a:t>practice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dirty="0"/>
          </a:p>
          <a:p>
            <a:r>
              <a:rPr lang="en-CA" sz="2400" dirty="0"/>
              <a:t># to get summary statistics only for age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summary(</a:t>
            </a:r>
            <a:r>
              <a:rPr lang="en-US" sz="2400" i="1" dirty="0">
                <a:solidFill>
                  <a:srgbClr val="7030A0"/>
                </a:solidFill>
              </a:rPr>
              <a:t>practice</a:t>
            </a:r>
            <a:r>
              <a:rPr lang="en-CA" sz="2400" i="1" dirty="0">
                <a:solidFill>
                  <a:srgbClr val="7030A0"/>
                </a:solidFill>
              </a:rPr>
              <a:t>$age)</a:t>
            </a:r>
          </a:p>
          <a:p>
            <a:endParaRPr lang="en-CA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57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15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786213" y="73568"/>
            <a:ext cx="4255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Exploring dataset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30AB69-8F2B-4E10-3A08-A37C7AFCFBFB}"/>
              </a:ext>
            </a:extLst>
          </p:cNvPr>
          <p:cNvSpPr txBox="1"/>
          <p:nvPr/>
        </p:nvSpPr>
        <p:spPr>
          <a:xfrm>
            <a:off x="786213" y="807251"/>
            <a:ext cx="9293149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# to see frequency distribution of variables</a:t>
            </a:r>
          </a:p>
          <a:p>
            <a:r>
              <a:rPr lang="en-US" sz="2400" dirty="0"/>
              <a:t># we need to install a package called ‘</a:t>
            </a:r>
            <a:r>
              <a:rPr lang="en-US" sz="2400" dirty="0" err="1"/>
              <a:t>dplyr</a:t>
            </a:r>
            <a:r>
              <a:rPr lang="en-US" sz="2400" dirty="0"/>
              <a:t>’</a:t>
            </a:r>
          </a:p>
          <a:p>
            <a:endParaRPr lang="en-US" sz="2400" dirty="0"/>
          </a:p>
          <a:p>
            <a:r>
              <a:rPr lang="en-US" sz="2400" i="1" dirty="0" err="1">
                <a:solidFill>
                  <a:srgbClr val="7030A0"/>
                </a:solidFill>
              </a:rPr>
              <a:t>install.packages</a:t>
            </a:r>
            <a:r>
              <a:rPr lang="en-US" sz="2400" i="1" dirty="0">
                <a:solidFill>
                  <a:srgbClr val="7030A0"/>
                </a:solidFill>
              </a:rPr>
              <a:t>(‘</a:t>
            </a:r>
            <a:r>
              <a:rPr lang="en-US" sz="2400" i="1" dirty="0" err="1">
                <a:solidFill>
                  <a:srgbClr val="7030A0"/>
                </a:solidFill>
              </a:rPr>
              <a:t>dplyr</a:t>
            </a:r>
            <a:r>
              <a:rPr lang="en-US" sz="2400" i="1" dirty="0">
                <a:solidFill>
                  <a:srgbClr val="7030A0"/>
                </a:solidFill>
              </a:rPr>
              <a:t>')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library(</a:t>
            </a:r>
            <a:r>
              <a:rPr lang="en-US" sz="2400" i="1" dirty="0" err="1">
                <a:solidFill>
                  <a:srgbClr val="7030A0"/>
                </a:solidFill>
              </a:rPr>
              <a:t>dplyr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endParaRPr lang="en-US" sz="2400" dirty="0"/>
          </a:p>
          <a:p>
            <a:r>
              <a:rPr lang="en-US" sz="2400" dirty="0"/>
              <a:t># to see frequency distribution of age</a:t>
            </a:r>
          </a:p>
          <a:p>
            <a:r>
              <a:rPr lang="en-US" sz="2400" dirty="0" err="1">
                <a:solidFill>
                  <a:srgbClr val="7030A0"/>
                </a:solidFill>
              </a:rPr>
              <a:t>dplyr</a:t>
            </a:r>
            <a:r>
              <a:rPr lang="en-US" sz="2400" dirty="0">
                <a:solidFill>
                  <a:srgbClr val="7030A0"/>
                </a:solidFill>
              </a:rPr>
              <a:t>::count(practice, age)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# to see frequency distribution of sex</a:t>
            </a:r>
          </a:p>
          <a:p>
            <a:r>
              <a:rPr lang="en-US" sz="2400" i="1" dirty="0" err="1">
                <a:solidFill>
                  <a:srgbClr val="7030A0"/>
                </a:solidFill>
              </a:rPr>
              <a:t>dplyr</a:t>
            </a:r>
            <a:r>
              <a:rPr lang="en-US" sz="2400" i="1" dirty="0">
                <a:solidFill>
                  <a:srgbClr val="7030A0"/>
                </a:solidFill>
              </a:rPr>
              <a:t>::count(practice, sex)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613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16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786213" y="51083"/>
            <a:ext cx="4255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Exploring dataset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30AB69-8F2B-4E10-3A08-A37C7AFCFBFB}"/>
              </a:ext>
            </a:extLst>
          </p:cNvPr>
          <p:cNvSpPr txBox="1"/>
          <p:nvPr/>
        </p:nvSpPr>
        <p:spPr>
          <a:xfrm>
            <a:off x="786213" y="912182"/>
            <a:ext cx="92931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#to see summary data</a:t>
            </a:r>
          </a:p>
          <a:p>
            <a:endParaRPr lang="en-US" sz="2400" dirty="0"/>
          </a:p>
          <a:p>
            <a:r>
              <a:rPr lang="en-US" sz="2400" i="1" dirty="0" err="1">
                <a:solidFill>
                  <a:srgbClr val="7030A0"/>
                </a:solidFill>
              </a:rPr>
              <a:t>install.packages</a:t>
            </a:r>
            <a:r>
              <a:rPr lang="en-US" sz="2400" i="1" dirty="0">
                <a:solidFill>
                  <a:srgbClr val="7030A0"/>
                </a:solidFill>
              </a:rPr>
              <a:t>(“</a:t>
            </a:r>
            <a:r>
              <a:rPr lang="en-US" sz="2400" i="1" dirty="0" err="1">
                <a:solidFill>
                  <a:srgbClr val="7030A0"/>
                </a:solidFill>
              </a:rPr>
              <a:t>vtable</a:t>
            </a:r>
            <a:r>
              <a:rPr lang="en-US" sz="2400" i="1" dirty="0">
                <a:solidFill>
                  <a:srgbClr val="7030A0"/>
                </a:solidFill>
              </a:rPr>
              <a:t>”)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library(</a:t>
            </a:r>
            <a:r>
              <a:rPr lang="en-US" sz="2400" i="1" dirty="0" err="1">
                <a:solidFill>
                  <a:srgbClr val="7030A0"/>
                </a:solidFill>
              </a:rPr>
              <a:t>vtable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 err="1">
                <a:solidFill>
                  <a:srgbClr val="7030A0"/>
                </a:solidFill>
              </a:rPr>
              <a:t>st</a:t>
            </a:r>
            <a:r>
              <a:rPr lang="en-US" sz="2400" i="1" dirty="0">
                <a:solidFill>
                  <a:srgbClr val="7030A0"/>
                </a:solidFill>
              </a:rPr>
              <a:t>(practice)</a:t>
            </a:r>
          </a:p>
          <a:p>
            <a:endParaRPr lang="en-US" sz="2400" dirty="0"/>
          </a:p>
          <a:p>
            <a:r>
              <a:rPr lang="en-US" sz="2400" dirty="0"/>
              <a:t>#individual function can be used to get certain descriptives</a:t>
            </a:r>
          </a:p>
          <a:p>
            <a:endParaRPr lang="en-US" sz="2400" dirty="0"/>
          </a:p>
          <a:p>
            <a:r>
              <a:rPr lang="en-US" sz="2400" i="1" dirty="0" err="1">
                <a:solidFill>
                  <a:srgbClr val="7030A0"/>
                </a:solidFill>
              </a:rPr>
              <a:t>sd</a:t>
            </a:r>
            <a:r>
              <a:rPr lang="en-US" sz="2400" i="1" dirty="0">
                <a:solidFill>
                  <a:srgbClr val="7030A0"/>
                </a:solidFill>
              </a:rPr>
              <a:t>(</a:t>
            </a:r>
            <a:r>
              <a:rPr lang="en-US" sz="2400" i="1" dirty="0" err="1">
                <a:solidFill>
                  <a:srgbClr val="7030A0"/>
                </a:solidFill>
              </a:rPr>
              <a:t>practice$age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endParaRPr lang="en-US" sz="2400" dirty="0"/>
          </a:p>
          <a:p>
            <a:r>
              <a:rPr lang="en-US" sz="2400" dirty="0"/>
              <a:t>#sd is a function</a:t>
            </a:r>
          </a:p>
        </p:txBody>
      </p:sp>
    </p:spTree>
    <p:extLst>
      <p:ext uri="{BB962C8B-B14F-4D97-AF65-F5344CB8AC3E}">
        <p14:creationId xmlns:p14="http://schemas.microsoft.com/office/powerpoint/2010/main" val="4258104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17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786213" y="51083"/>
            <a:ext cx="7061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Saving data 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30AB69-8F2B-4E10-3A08-A37C7AFCFBFB}"/>
              </a:ext>
            </a:extLst>
          </p:cNvPr>
          <p:cNvSpPr txBox="1"/>
          <p:nvPr/>
        </p:nvSpPr>
        <p:spPr>
          <a:xfrm>
            <a:off x="1134348" y="925451"/>
            <a:ext cx="929314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# Export/save data ‘practice’ in csv format</a:t>
            </a:r>
          </a:p>
          <a:p>
            <a:endParaRPr lang="en-US" sz="2400" dirty="0"/>
          </a:p>
          <a:p>
            <a:r>
              <a:rPr lang="en-US" sz="2400" dirty="0"/>
              <a:t># Where is the data going to go?</a:t>
            </a:r>
          </a:p>
          <a:p>
            <a:endParaRPr lang="en-US" sz="2400" dirty="0"/>
          </a:p>
          <a:p>
            <a:r>
              <a:rPr lang="en-US" sz="2400" i="1" dirty="0" err="1">
                <a:solidFill>
                  <a:srgbClr val="7030A0"/>
                </a:solidFill>
              </a:rPr>
              <a:t>getwd</a:t>
            </a:r>
            <a:r>
              <a:rPr lang="en-US" sz="2400" i="1" dirty="0">
                <a:solidFill>
                  <a:srgbClr val="7030A0"/>
                </a:solidFill>
              </a:rPr>
              <a:t>()</a:t>
            </a:r>
          </a:p>
          <a:p>
            <a:r>
              <a:rPr lang="en-US" sz="2400" i="1" dirty="0" err="1">
                <a:solidFill>
                  <a:srgbClr val="7030A0"/>
                </a:solidFill>
              </a:rPr>
              <a:t>setwd</a:t>
            </a:r>
            <a:r>
              <a:rPr lang="en-US" sz="2400" i="1" dirty="0">
                <a:solidFill>
                  <a:srgbClr val="7030A0"/>
                </a:solidFill>
              </a:rPr>
              <a:t>()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7030A0"/>
                </a:solidFill>
              </a:rPr>
              <a:t>write.csv(practice, file = “location/</a:t>
            </a:r>
            <a:r>
              <a:rPr lang="en-US" sz="2400" dirty="0" err="1">
                <a:solidFill>
                  <a:srgbClr val="7030A0"/>
                </a:solidFill>
              </a:rPr>
              <a:t>practice.csv</a:t>
            </a:r>
            <a:r>
              <a:rPr lang="en-US" sz="2400" dirty="0">
                <a:solidFill>
                  <a:srgbClr val="7030A0"/>
                </a:solidFill>
              </a:rPr>
              <a:t>”)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71560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18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955563" y="259189"/>
            <a:ext cx="4056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Importing data named ‘test’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D796C-1477-45CD-1269-362522F3028F}"/>
              </a:ext>
            </a:extLst>
          </p:cNvPr>
          <p:cNvSpPr txBox="1"/>
          <p:nvPr/>
        </p:nvSpPr>
        <p:spPr>
          <a:xfrm>
            <a:off x="955563" y="1079685"/>
            <a:ext cx="1028087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7030A0"/>
                </a:solidFill>
              </a:rPr>
              <a:t>test &lt;- read.csv(“location of the data/</a:t>
            </a:r>
            <a:r>
              <a:rPr lang="en-US" sz="2400" i="1" dirty="0" err="1">
                <a:solidFill>
                  <a:srgbClr val="7030A0"/>
                </a:solidFill>
              </a:rPr>
              <a:t>test.csv</a:t>
            </a:r>
            <a:r>
              <a:rPr lang="en-US" sz="2400" i="1" dirty="0">
                <a:solidFill>
                  <a:srgbClr val="7030A0"/>
                </a:solidFill>
              </a:rPr>
              <a:t>", header = TRUE)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>
                <a:solidFill>
                  <a:srgbClr val="7030A0"/>
                </a:solidFill>
              </a:rPr>
              <a:t>head(test,10)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>
                <a:solidFill>
                  <a:srgbClr val="7030A0"/>
                </a:solidFill>
              </a:rPr>
              <a:t>tail(test,10)</a:t>
            </a:r>
          </a:p>
          <a:p>
            <a:endParaRPr lang="en-US" sz="2400" dirty="0"/>
          </a:p>
          <a:p>
            <a:r>
              <a:rPr lang="en-US" sz="2400" dirty="0"/>
              <a:t># To know about data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str(test)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summary(test)</a:t>
            </a:r>
          </a:p>
          <a:p>
            <a:endParaRPr lang="en-CA" dirty="0">
              <a:highlight>
                <a:srgbClr val="FFFF00"/>
              </a:highlight>
            </a:endParaRP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82011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19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793707" y="91555"/>
            <a:ext cx="5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Creating sub data 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09318-F5F1-F2E0-EDBD-2F80080CDA97}"/>
              </a:ext>
            </a:extLst>
          </p:cNvPr>
          <p:cNvSpPr txBox="1"/>
          <p:nvPr/>
        </p:nvSpPr>
        <p:spPr>
          <a:xfrm>
            <a:off x="1166341" y="659745"/>
            <a:ext cx="998634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sz="1600" dirty="0"/>
          </a:p>
          <a:p>
            <a:r>
              <a:rPr lang="en-US" sz="2400" dirty="0"/>
              <a:t># keep selected variables age, gender, id in a new data set named ‘</a:t>
            </a:r>
            <a:r>
              <a:rPr lang="en-US" sz="2400" dirty="0" err="1"/>
              <a:t>newdata</a:t>
            </a:r>
            <a:r>
              <a:rPr lang="en-US" sz="2400" dirty="0"/>
              <a:t>’</a:t>
            </a:r>
          </a:p>
          <a:p>
            <a:r>
              <a:rPr lang="en-US" sz="2400" dirty="0" err="1">
                <a:solidFill>
                  <a:srgbClr val="7030A0"/>
                </a:solidFill>
              </a:rPr>
              <a:t>newdata</a:t>
            </a:r>
            <a:r>
              <a:rPr lang="en-US" sz="2400" dirty="0">
                <a:solidFill>
                  <a:srgbClr val="7030A0"/>
                </a:solidFill>
              </a:rPr>
              <a:t> &lt;- </a:t>
            </a:r>
            <a:r>
              <a:rPr lang="en-US" sz="2400" dirty="0" err="1">
                <a:solidFill>
                  <a:srgbClr val="7030A0"/>
                </a:solidFill>
              </a:rPr>
              <a:t>dplyr</a:t>
            </a:r>
            <a:r>
              <a:rPr lang="en-US" sz="2400" dirty="0">
                <a:solidFill>
                  <a:srgbClr val="7030A0"/>
                </a:solidFill>
              </a:rPr>
              <a:t>::select(test, age, gender, id)</a:t>
            </a:r>
          </a:p>
          <a:p>
            <a:r>
              <a:rPr lang="en-US" sz="2400" dirty="0">
                <a:solidFill>
                  <a:srgbClr val="7030A0"/>
                </a:solidFill>
              </a:rPr>
              <a:t>str(</a:t>
            </a:r>
            <a:r>
              <a:rPr lang="en-US" sz="2400" dirty="0" err="1">
                <a:solidFill>
                  <a:srgbClr val="7030A0"/>
                </a:solidFill>
              </a:rPr>
              <a:t>newdata</a:t>
            </a:r>
            <a:r>
              <a:rPr lang="en-US" sz="2400" dirty="0">
                <a:solidFill>
                  <a:srgbClr val="7030A0"/>
                </a:solidFill>
              </a:rPr>
              <a:t>)</a:t>
            </a:r>
          </a:p>
          <a:p>
            <a:endParaRPr lang="en-US" sz="2400" dirty="0"/>
          </a:p>
          <a:p>
            <a:r>
              <a:rPr lang="en-US" sz="2400" b="0" i="0" dirty="0">
                <a:effectLst/>
                <a:latin typeface="Lato Mono"/>
              </a:rPr>
              <a:t># creating sub data set named ‘newdata1’ with female only</a:t>
            </a:r>
          </a:p>
          <a:p>
            <a:endParaRPr lang="en-US" sz="2400" b="0" i="0" dirty="0">
              <a:effectLst/>
              <a:latin typeface="Lato Mono"/>
            </a:endParaRPr>
          </a:p>
          <a:p>
            <a:r>
              <a:rPr lang="en-US" sz="2400" b="0" i="0" dirty="0" err="1">
                <a:solidFill>
                  <a:srgbClr val="7030A0"/>
                </a:solidFill>
                <a:effectLst/>
                <a:latin typeface="Lato Mono"/>
              </a:rPr>
              <a:t>newdata_female</a:t>
            </a:r>
            <a:r>
              <a:rPr lang="en-US" sz="2400" b="0" i="0" dirty="0">
                <a:solidFill>
                  <a:srgbClr val="7030A0"/>
                </a:solidFill>
                <a:effectLst/>
                <a:latin typeface="Lato Mono"/>
              </a:rPr>
              <a:t> &lt;- </a:t>
            </a:r>
            <a:r>
              <a:rPr lang="en-US" sz="2400" dirty="0" err="1">
                <a:solidFill>
                  <a:srgbClr val="7030A0"/>
                </a:solidFill>
              </a:rPr>
              <a:t>dplyr</a:t>
            </a:r>
            <a:r>
              <a:rPr lang="en-US" sz="2400" dirty="0">
                <a:solidFill>
                  <a:srgbClr val="7030A0"/>
                </a:solidFill>
              </a:rPr>
              <a:t>:: </a:t>
            </a:r>
            <a:r>
              <a:rPr lang="en-US" sz="2400" b="0" i="0" dirty="0">
                <a:solidFill>
                  <a:srgbClr val="7030A0"/>
                </a:solidFill>
                <a:effectLst/>
                <a:latin typeface="Lato Mono"/>
              </a:rPr>
              <a:t>filter(test, gender == "f")</a:t>
            </a:r>
          </a:p>
          <a:p>
            <a:r>
              <a:rPr lang="en-US" sz="2400" b="0" i="0" dirty="0">
                <a:solidFill>
                  <a:srgbClr val="7030A0"/>
                </a:solidFill>
                <a:effectLst/>
                <a:latin typeface="Lato Mono"/>
              </a:rPr>
              <a:t>str(</a:t>
            </a:r>
            <a:r>
              <a:rPr lang="en-US" sz="2400" b="0" i="0" dirty="0" err="1">
                <a:solidFill>
                  <a:srgbClr val="7030A0"/>
                </a:solidFill>
                <a:effectLst/>
                <a:latin typeface="Lato Mono"/>
              </a:rPr>
              <a:t>newdata_female</a:t>
            </a:r>
            <a:r>
              <a:rPr lang="en-US" sz="2400" b="0" i="0" dirty="0">
                <a:solidFill>
                  <a:srgbClr val="7030A0"/>
                </a:solidFill>
                <a:effectLst/>
                <a:latin typeface="Lato Mono"/>
              </a:rPr>
              <a:t>)</a:t>
            </a:r>
            <a:endParaRPr lang="en-CA" sz="1600" dirty="0"/>
          </a:p>
          <a:p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1746719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20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876154" y="88558"/>
            <a:ext cx="332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Data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76FA7-425D-3C57-5459-6D3BE895D62C}"/>
              </a:ext>
            </a:extLst>
          </p:cNvPr>
          <p:cNvSpPr txBox="1"/>
          <p:nvPr/>
        </p:nvSpPr>
        <p:spPr>
          <a:xfrm>
            <a:off x="1064616" y="951504"/>
            <a:ext cx="89991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 to see histogram</a:t>
            </a:r>
          </a:p>
          <a:p>
            <a:r>
              <a:rPr lang="en-US" sz="2400" i="1" dirty="0" err="1">
                <a:solidFill>
                  <a:srgbClr val="7030A0"/>
                </a:solidFill>
              </a:rPr>
              <a:t>hist_age</a:t>
            </a:r>
            <a:r>
              <a:rPr lang="en-US" sz="2400" i="1" dirty="0">
                <a:solidFill>
                  <a:srgbClr val="7030A0"/>
                </a:solidFill>
              </a:rPr>
              <a:t> &lt;- hist(</a:t>
            </a:r>
            <a:r>
              <a:rPr lang="en-US" sz="2400" i="1" dirty="0" err="1">
                <a:solidFill>
                  <a:srgbClr val="7030A0"/>
                </a:solidFill>
              </a:rPr>
              <a:t>test$age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plot(</a:t>
            </a:r>
            <a:r>
              <a:rPr lang="en-US" sz="2400" i="1" dirty="0" err="1">
                <a:solidFill>
                  <a:srgbClr val="7030A0"/>
                </a:solidFill>
              </a:rPr>
              <a:t>hist_age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endParaRPr lang="en-US" sz="2400" dirty="0"/>
          </a:p>
          <a:p>
            <a:r>
              <a:rPr lang="en-US" sz="2400" dirty="0"/>
              <a:t>#visualize your data using scatter plots</a:t>
            </a:r>
          </a:p>
          <a:p>
            <a:r>
              <a:rPr lang="en-US" sz="2400" i="1" dirty="0" err="1">
                <a:solidFill>
                  <a:srgbClr val="7030A0"/>
                </a:solidFill>
              </a:rPr>
              <a:t>install.packages</a:t>
            </a:r>
            <a:r>
              <a:rPr lang="en-US" sz="2400" i="1" dirty="0">
                <a:solidFill>
                  <a:srgbClr val="7030A0"/>
                </a:solidFill>
              </a:rPr>
              <a:t>("ggplot2")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library(ggplot2)</a:t>
            </a:r>
          </a:p>
          <a:p>
            <a:endParaRPr lang="en-US" sz="2400" dirty="0"/>
          </a:p>
          <a:p>
            <a:r>
              <a:rPr lang="en-US" sz="2400" dirty="0"/>
              <a:t>## histogram for age</a:t>
            </a:r>
          </a:p>
          <a:p>
            <a:r>
              <a:rPr lang="en-US" sz="2400" i="1" dirty="0" err="1">
                <a:solidFill>
                  <a:srgbClr val="7030A0"/>
                </a:solidFill>
              </a:rPr>
              <a:t>hist_age_ggplot</a:t>
            </a:r>
            <a:r>
              <a:rPr lang="en-US" sz="2400" i="1" dirty="0">
                <a:solidFill>
                  <a:srgbClr val="7030A0"/>
                </a:solidFill>
              </a:rPr>
              <a:t> &lt;- </a:t>
            </a:r>
            <a:r>
              <a:rPr lang="en-US" sz="2400" i="1" dirty="0" err="1">
                <a:solidFill>
                  <a:srgbClr val="7030A0"/>
                </a:solidFill>
              </a:rPr>
              <a:t>ggplot</a:t>
            </a:r>
            <a:r>
              <a:rPr lang="en-US" sz="2400" i="1" dirty="0">
                <a:solidFill>
                  <a:srgbClr val="7030A0"/>
                </a:solidFill>
              </a:rPr>
              <a:t>(test, </a:t>
            </a:r>
            <a:r>
              <a:rPr lang="en-US" sz="2400" i="1" dirty="0" err="1">
                <a:solidFill>
                  <a:srgbClr val="7030A0"/>
                </a:solidFill>
              </a:rPr>
              <a:t>aes</a:t>
            </a:r>
            <a:r>
              <a:rPr lang="en-US" sz="2400" i="1" dirty="0">
                <a:solidFill>
                  <a:srgbClr val="7030A0"/>
                </a:solidFill>
              </a:rPr>
              <a:t>(age)) +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          </a:t>
            </a:r>
            <a:r>
              <a:rPr lang="en-US" sz="2400" i="1" dirty="0" err="1">
                <a:solidFill>
                  <a:srgbClr val="7030A0"/>
                </a:solidFill>
              </a:rPr>
              <a:t>geom_histogram</a:t>
            </a:r>
            <a:r>
              <a:rPr lang="en-US" sz="2400" i="1" dirty="0">
                <a:solidFill>
                  <a:srgbClr val="7030A0"/>
                </a:solidFill>
              </a:rPr>
              <a:t>()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plot(</a:t>
            </a:r>
            <a:r>
              <a:rPr lang="en-US" sz="2400" i="1" dirty="0" err="1">
                <a:solidFill>
                  <a:srgbClr val="7030A0"/>
                </a:solidFill>
              </a:rPr>
              <a:t>hist_age_ggplot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  <a:endParaRPr lang="en-CA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385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21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876154" y="88558"/>
            <a:ext cx="332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Data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76FA7-425D-3C57-5459-6D3BE895D62C}"/>
              </a:ext>
            </a:extLst>
          </p:cNvPr>
          <p:cNvSpPr txBox="1"/>
          <p:nvPr/>
        </p:nvSpPr>
        <p:spPr>
          <a:xfrm>
            <a:off x="1064616" y="951504"/>
            <a:ext cx="899919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## scatter plot ldl1 and ldl2</a:t>
            </a:r>
          </a:p>
          <a:p>
            <a:r>
              <a:rPr lang="en-US" sz="2400" dirty="0"/>
              <a:t># ldl1 and ldl2 are continuous variables</a:t>
            </a:r>
          </a:p>
          <a:p>
            <a:endParaRPr lang="en-US" sz="2400" dirty="0"/>
          </a:p>
          <a:p>
            <a:r>
              <a:rPr lang="en-US" sz="2400" i="1" dirty="0" err="1">
                <a:solidFill>
                  <a:srgbClr val="7030A0"/>
                </a:solidFill>
              </a:rPr>
              <a:t>scatter_ldl</a:t>
            </a:r>
            <a:r>
              <a:rPr lang="en-US" sz="2400" i="1" dirty="0">
                <a:solidFill>
                  <a:srgbClr val="7030A0"/>
                </a:solidFill>
              </a:rPr>
              <a:t> &lt;- </a:t>
            </a:r>
            <a:r>
              <a:rPr lang="en-US" sz="2400" i="1" dirty="0" err="1">
                <a:solidFill>
                  <a:srgbClr val="7030A0"/>
                </a:solidFill>
              </a:rPr>
              <a:t>ggplot</a:t>
            </a:r>
            <a:r>
              <a:rPr lang="en-US" sz="2400" i="1" dirty="0">
                <a:solidFill>
                  <a:srgbClr val="7030A0"/>
                </a:solidFill>
              </a:rPr>
              <a:t>(test, </a:t>
            </a:r>
            <a:r>
              <a:rPr lang="en-US" sz="2400" i="1" dirty="0" err="1">
                <a:solidFill>
                  <a:srgbClr val="7030A0"/>
                </a:solidFill>
              </a:rPr>
              <a:t>aes</a:t>
            </a:r>
            <a:r>
              <a:rPr lang="en-US" sz="2400" i="1" dirty="0">
                <a:solidFill>
                  <a:srgbClr val="7030A0"/>
                </a:solidFill>
              </a:rPr>
              <a:t>(x = ldl1, y = ldl2)) +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        </a:t>
            </a:r>
            <a:r>
              <a:rPr lang="en-US" sz="2400" i="1" dirty="0" err="1">
                <a:solidFill>
                  <a:srgbClr val="7030A0"/>
                </a:solidFill>
              </a:rPr>
              <a:t>geom_point</a:t>
            </a:r>
            <a:r>
              <a:rPr lang="en-US" sz="2400" i="1" dirty="0">
                <a:solidFill>
                  <a:srgbClr val="7030A0"/>
                </a:solidFill>
              </a:rPr>
              <a:t>() 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plot(</a:t>
            </a:r>
            <a:r>
              <a:rPr lang="en-US" sz="2400" i="1" dirty="0" err="1">
                <a:solidFill>
                  <a:srgbClr val="7030A0"/>
                </a:solidFill>
              </a:rPr>
              <a:t>scatter_ldl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endParaRPr lang="en-US" sz="2400" dirty="0"/>
          </a:p>
          <a:p>
            <a:r>
              <a:rPr lang="en-US" sz="2400" dirty="0"/>
              <a:t>## scatter plot ldl1 and ldl2 with a regression line</a:t>
            </a:r>
          </a:p>
          <a:p>
            <a:endParaRPr lang="en-US" sz="2400" dirty="0"/>
          </a:p>
          <a:p>
            <a:r>
              <a:rPr lang="en-US" sz="2400" i="1" dirty="0" err="1">
                <a:solidFill>
                  <a:srgbClr val="7030A0"/>
                </a:solidFill>
              </a:rPr>
              <a:t>scatter_ldl_lm</a:t>
            </a:r>
            <a:r>
              <a:rPr lang="en-US" sz="2400" i="1" dirty="0">
                <a:solidFill>
                  <a:srgbClr val="7030A0"/>
                </a:solidFill>
              </a:rPr>
              <a:t> &lt;- </a:t>
            </a:r>
            <a:r>
              <a:rPr lang="en-US" sz="2400" i="1" dirty="0" err="1">
                <a:solidFill>
                  <a:srgbClr val="7030A0"/>
                </a:solidFill>
              </a:rPr>
              <a:t>ggplot</a:t>
            </a:r>
            <a:r>
              <a:rPr lang="en-US" sz="2400" i="1" dirty="0">
                <a:solidFill>
                  <a:srgbClr val="7030A0"/>
                </a:solidFill>
              </a:rPr>
              <a:t>(test, </a:t>
            </a:r>
            <a:r>
              <a:rPr lang="en-US" sz="2400" i="1" dirty="0" err="1">
                <a:solidFill>
                  <a:srgbClr val="7030A0"/>
                </a:solidFill>
              </a:rPr>
              <a:t>aes</a:t>
            </a:r>
            <a:r>
              <a:rPr lang="en-US" sz="2400" i="1" dirty="0">
                <a:solidFill>
                  <a:srgbClr val="7030A0"/>
                </a:solidFill>
              </a:rPr>
              <a:t>(x = ldl1, y = ldl2)) +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</a:t>
            </a:r>
            <a:r>
              <a:rPr lang="en-US" sz="2400" i="1" dirty="0" err="1">
                <a:solidFill>
                  <a:srgbClr val="7030A0"/>
                </a:solidFill>
              </a:rPr>
              <a:t>geom_point</a:t>
            </a:r>
            <a:r>
              <a:rPr lang="en-US" sz="2400" i="1" dirty="0">
                <a:solidFill>
                  <a:srgbClr val="7030A0"/>
                </a:solidFill>
              </a:rPr>
              <a:t>() +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</a:t>
            </a:r>
            <a:r>
              <a:rPr lang="en-US" sz="2400" i="1" dirty="0" err="1">
                <a:solidFill>
                  <a:srgbClr val="7030A0"/>
                </a:solidFill>
              </a:rPr>
              <a:t>geom_smooth</a:t>
            </a:r>
            <a:r>
              <a:rPr lang="en-US" sz="2400" i="1" dirty="0">
                <a:solidFill>
                  <a:srgbClr val="7030A0"/>
                </a:solidFill>
              </a:rPr>
              <a:t>(method = "</a:t>
            </a:r>
            <a:r>
              <a:rPr lang="en-US" sz="2400" i="1" dirty="0" err="1">
                <a:solidFill>
                  <a:srgbClr val="7030A0"/>
                </a:solidFill>
              </a:rPr>
              <a:t>lm</a:t>
            </a:r>
            <a:r>
              <a:rPr lang="en-US" sz="2400" i="1" dirty="0">
                <a:solidFill>
                  <a:srgbClr val="7030A0"/>
                </a:solidFill>
              </a:rPr>
              <a:t>")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plot(</a:t>
            </a:r>
            <a:r>
              <a:rPr lang="en-US" sz="2400" i="1" dirty="0" err="1">
                <a:solidFill>
                  <a:srgbClr val="7030A0"/>
                </a:solidFill>
              </a:rPr>
              <a:t>scatter_ldl_lm</a:t>
            </a:r>
            <a:r>
              <a:rPr lang="en-US" sz="2400" i="1" dirty="0">
                <a:solidFill>
                  <a:srgbClr val="7030A0"/>
                </a:solidFill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707692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22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876154" y="88558"/>
            <a:ext cx="3324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Data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76FA7-425D-3C57-5459-6D3BE895D62C}"/>
              </a:ext>
            </a:extLst>
          </p:cNvPr>
          <p:cNvSpPr txBox="1"/>
          <p:nvPr/>
        </p:nvSpPr>
        <p:spPr>
          <a:xfrm>
            <a:off x="1064616" y="951504"/>
            <a:ext cx="89991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## save your image</a:t>
            </a:r>
          </a:p>
          <a:p>
            <a:endParaRPr lang="en-US" sz="2400" dirty="0"/>
          </a:p>
          <a:p>
            <a:r>
              <a:rPr lang="en-US" sz="2400" i="1" dirty="0" err="1">
                <a:solidFill>
                  <a:srgbClr val="7030A0"/>
                </a:solidFill>
              </a:rPr>
              <a:t>ggsave</a:t>
            </a:r>
            <a:r>
              <a:rPr lang="en-US" sz="2400" i="1" dirty="0">
                <a:solidFill>
                  <a:srgbClr val="7030A0"/>
                </a:solidFill>
              </a:rPr>
              <a:t>(</a:t>
            </a:r>
            <a:r>
              <a:rPr lang="en-US" sz="2400" i="1" dirty="0" err="1">
                <a:solidFill>
                  <a:srgbClr val="7030A0"/>
                </a:solidFill>
              </a:rPr>
              <a:t>scatter_lm.pdf</a:t>
            </a:r>
            <a:r>
              <a:rPr lang="en-US" sz="2400" i="1" dirty="0">
                <a:solidFill>
                  <a:srgbClr val="7030A0"/>
                </a:solidFill>
              </a:rPr>
              <a:t>, plot = </a:t>
            </a:r>
            <a:r>
              <a:rPr lang="en-US" sz="2400" i="1" dirty="0" err="1">
                <a:solidFill>
                  <a:srgbClr val="7030A0"/>
                </a:solidFill>
              </a:rPr>
              <a:t>scatter_ldl_lm</a:t>
            </a:r>
            <a:r>
              <a:rPr lang="en-US" sz="2400" i="1" dirty="0">
                <a:solidFill>
                  <a:srgbClr val="7030A0"/>
                </a:solidFill>
              </a:rPr>
              <a:t>, dpi = 300)</a:t>
            </a:r>
          </a:p>
        </p:txBody>
      </p:sp>
    </p:spTree>
    <p:extLst>
      <p:ext uri="{BB962C8B-B14F-4D97-AF65-F5344CB8AC3E}">
        <p14:creationId xmlns:p14="http://schemas.microsoft.com/office/powerpoint/2010/main" val="1859666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23</a:t>
            </a:fld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076FA7-425D-3C57-5459-6D3BE895D62C}"/>
              </a:ext>
            </a:extLst>
          </p:cNvPr>
          <p:cNvSpPr txBox="1"/>
          <p:nvPr/>
        </p:nvSpPr>
        <p:spPr>
          <a:xfrm>
            <a:off x="2751011" y="1835924"/>
            <a:ext cx="476655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dirty="0"/>
              <a:t>Acknowledgment</a:t>
            </a:r>
          </a:p>
          <a:p>
            <a:r>
              <a:rPr lang="en-CA" sz="2800" dirty="0" err="1"/>
              <a:t>Jiwon</a:t>
            </a:r>
            <a:r>
              <a:rPr lang="en-CA" sz="2800" dirty="0"/>
              <a:t> Yoon</a:t>
            </a:r>
          </a:p>
          <a:p>
            <a:r>
              <a:rPr lang="en-CA" sz="2800" dirty="0" err="1"/>
              <a:t>Prosanta</a:t>
            </a:r>
            <a:r>
              <a:rPr lang="en-CA" sz="2800" dirty="0"/>
              <a:t> Mondal </a:t>
            </a:r>
            <a:endParaRPr lang="en-US" sz="28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87200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</TotalTime>
  <Words>1168</Words>
  <Application>Microsoft Macintosh PowerPoint</Application>
  <PresentationFormat>Widescreen</PresentationFormat>
  <Paragraphs>224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Lato Mono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Yoon, Jiwon</dc:creator>
  <cp:lastModifiedBy>Daniel Fuller</cp:lastModifiedBy>
  <cp:revision>334</cp:revision>
  <cp:lastPrinted>2023-11-20T18:17:40Z</cp:lastPrinted>
  <dcterms:created xsi:type="dcterms:W3CDTF">2023-08-04T15:09:10Z</dcterms:created>
  <dcterms:modified xsi:type="dcterms:W3CDTF">2025-11-03T18:11:42Z</dcterms:modified>
</cp:coreProperties>
</file>